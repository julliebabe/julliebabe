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88" r:id="rId5"/>
    <p:sldId id="289" r:id="rId6"/>
    <p:sldId id="290" r:id="rId7"/>
    <p:sldId id="291" r:id="rId8"/>
    <p:sldId id="292" r:id="rId9"/>
    <p:sldId id="293" r:id="rId10"/>
    <p:sldId id="294" r:id="rId11"/>
    <p:sldId id="299" r:id="rId12"/>
    <p:sldId id="296" r:id="rId13"/>
    <p:sldId id="300" r:id="rId14"/>
    <p:sldId id="301" r:id="rId15"/>
    <p:sldId id="272" r:id="rId16"/>
  </p:sldIdLst>
  <p:sldSz cx="12192000" cy="6858000"/>
  <p:notesSz cx="6858000" cy="9144000"/>
  <p:embeddedFontLst>
    <p:embeddedFont>
      <p:font typeface="Century Gothic" panose="020B0502020202020204"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4" autoAdjust="0"/>
    <p:restoredTop sz="94660"/>
  </p:normalViewPr>
  <p:slideViewPr>
    <p:cSldViewPr snapToGrid="0">
      <p:cViewPr varScale="1">
        <p:scale>
          <a:sx n="82" d="100"/>
          <a:sy n="82" d="100"/>
        </p:scale>
        <p:origin x="629"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6956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3553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50644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1392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0401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15150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6477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7223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7181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46734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3089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9" name="Google Shape;29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422030" y="1918117"/>
            <a:ext cx="5506016" cy="1217642"/>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5" name="Google Shape;85;p13"/>
          <p:cNvSpPr/>
          <p:nvPr/>
        </p:nvSpPr>
        <p:spPr>
          <a:xfrm>
            <a:off x="5402426" y="5401942"/>
            <a:ext cx="693574" cy="553615"/>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6" name="Google Shape;86;p13"/>
          <p:cNvSpPr/>
          <p:nvPr/>
        </p:nvSpPr>
        <p:spPr>
          <a:xfrm>
            <a:off x="867748" y="496915"/>
            <a:ext cx="693574" cy="553615"/>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 name="Google Shape;87;p13"/>
          <p:cNvSpPr txBox="1"/>
          <p:nvPr/>
        </p:nvSpPr>
        <p:spPr>
          <a:xfrm>
            <a:off x="867748" y="2234425"/>
            <a:ext cx="4435772"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2800" b="1" i="0" u="none" strike="noStrike" cap="none" dirty="0">
                <a:solidFill>
                  <a:schemeClr val="lt1"/>
                </a:solidFill>
                <a:latin typeface="Century Gothic"/>
                <a:ea typeface="Century Gothic"/>
                <a:cs typeface="Century Gothic"/>
                <a:sym typeface="Century Gothic"/>
              </a:rPr>
              <a:t>NOBEL PRIZE ANALYSIS</a:t>
            </a:r>
            <a:endParaRPr lang="en-US" sz="1000" b="0" i="0" u="none" strike="noStrike" cap="none" dirty="0">
              <a:solidFill>
                <a:srgbClr val="000000"/>
              </a:solidFill>
              <a:latin typeface="Arial"/>
              <a:ea typeface="Arial"/>
              <a:cs typeface="Arial"/>
              <a:sym typeface="Arial"/>
            </a:endParaRPr>
          </a:p>
        </p:txBody>
      </p:sp>
      <p:sp>
        <p:nvSpPr>
          <p:cNvPr id="88" name="Google Shape;88;p13"/>
          <p:cNvSpPr txBox="1"/>
          <p:nvPr/>
        </p:nvSpPr>
        <p:spPr>
          <a:xfrm>
            <a:off x="486437" y="3647273"/>
            <a:ext cx="4435772" cy="258528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entury Gothic"/>
                <a:ea typeface="Century Gothic"/>
                <a:cs typeface="Century Gothic"/>
                <a:sym typeface="Century Gothic"/>
              </a:rPr>
              <a:t>FOR DATALEUM HACKATHON </a:t>
            </a:r>
          </a:p>
          <a:p>
            <a:pPr marL="0" marR="0" lvl="0" indent="0" algn="ctr" rtl="0">
              <a:lnSpc>
                <a:spcPct val="100000"/>
              </a:lnSpc>
              <a:spcBef>
                <a:spcPts val="0"/>
              </a:spcBef>
              <a:spcAft>
                <a:spcPts val="0"/>
              </a:spcAft>
              <a:buClr>
                <a:srgbClr val="000000"/>
              </a:buClr>
              <a:buSzPts val="1800"/>
              <a:buFont typeface="Arial"/>
              <a:buNone/>
            </a:pPr>
            <a:r>
              <a:rPr lang="en-US" sz="1800" b="1" dirty="0">
                <a:solidFill>
                  <a:schemeClr val="dk1"/>
                </a:solidFill>
                <a:latin typeface="Century Gothic"/>
                <a:sym typeface="Century Gothic"/>
              </a:rPr>
              <a:t>4.0 EDITION.</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entury Gothic"/>
                <a:ea typeface="Century Gothic"/>
                <a:cs typeface="Century Gothic"/>
                <a:sym typeface="Century Gothic"/>
              </a:rPr>
              <a:t>PRESENTED BY:</a:t>
            </a:r>
            <a:endParaRPr dirty="0"/>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entury Gothic"/>
                <a:ea typeface="Century Gothic"/>
                <a:cs typeface="Century Gothic"/>
                <a:sym typeface="Century Gothic"/>
              </a:rPr>
              <a:t>ODUMERU ADEOLA JULIET</a:t>
            </a:r>
          </a:p>
          <a:p>
            <a:pPr marL="0" marR="0" lvl="0" indent="0" algn="ctr" rtl="0">
              <a:lnSpc>
                <a:spcPct val="100000"/>
              </a:lnSpc>
              <a:spcBef>
                <a:spcPts val="0"/>
              </a:spcBef>
              <a:spcAft>
                <a:spcPts val="0"/>
              </a:spcAft>
              <a:buClr>
                <a:srgbClr val="000000"/>
              </a:buClr>
              <a:buSzPts val="1800"/>
              <a:buFont typeface="Arial"/>
              <a:buNone/>
            </a:pPr>
            <a:r>
              <a:rPr lang="en-US" sz="1800" b="1" dirty="0">
                <a:solidFill>
                  <a:schemeClr val="dk1"/>
                </a:solidFill>
                <a:latin typeface="Century Gothic"/>
                <a:sym typeface="Century Gothic"/>
              </a:rPr>
              <a:t>HARUNA KWARI</a:t>
            </a:r>
            <a:endParaRPr dirty="0"/>
          </a:p>
          <a:p>
            <a:pPr marL="0" marR="0" lvl="0" indent="0" algn="ctr" rtl="0">
              <a:lnSpc>
                <a:spcPct val="100000"/>
              </a:lnSpc>
              <a:spcBef>
                <a:spcPts val="0"/>
              </a:spcBef>
              <a:spcAft>
                <a:spcPts val="0"/>
              </a:spcAft>
              <a:buClr>
                <a:srgbClr val="000000"/>
              </a:buClr>
              <a:buSzPts val="1800"/>
              <a:buFont typeface="Arial"/>
              <a:buNone/>
            </a:pPr>
            <a:endParaRPr lang="en-US" sz="1800" dirty="0">
              <a:solidFill>
                <a:schemeClr val="dk1"/>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entury Gothic"/>
                <a:ea typeface="Century Gothic"/>
                <a:cs typeface="Century Gothic"/>
                <a:sym typeface="Century Gothic"/>
              </a:rPr>
              <a:t>SEP</a:t>
            </a:r>
            <a:r>
              <a:rPr lang="en-US" sz="1800" dirty="0">
                <a:solidFill>
                  <a:schemeClr val="dk1"/>
                </a:solidFill>
                <a:latin typeface="Century Gothic"/>
                <a:ea typeface="Century Gothic"/>
                <a:cs typeface="Century Gothic"/>
                <a:sym typeface="Century Gothic"/>
              </a:rPr>
              <a:t>TEMBER</a:t>
            </a:r>
            <a:r>
              <a:rPr lang="en-US" sz="1800" b="0" i="0" u="none" strike="noStrike" cap="none" dirty="0">
                <a:solidFill>
                  <a:schemeClr val="dk1"/>
                </a:solidFill>
                <a:latin typeface="Century Gothic"/>
                <a:ea typeface="Century Gothic"/>
                <a:cs typeface="Century Gothic"/>
                <a:sym typeface="Century Gothic"/>
              </a:rPr>
              <a:t> </a:t>
            </a:r>
            <a:r>
              <a:rPr lang="en-US" sz="1800" dirty="0">
                <a:solidFill>
                  <a:schemeClr val="dk1"/>
                </a:solidFill>
                <a:latin typeface="Century Gothic"/>
                <a:ea typeface="Century Gothic"/>
                <a:cs typeface="Century Gothic"/>
                <a:sym typeface="Century Gothic"/>
              </a:rPr>
              <a:t>21</a:t>
            </a:r>
            <a:r>
              <a:rPr lang="en-US" sz="1800" b="0" i="0" u="none" strike="noStrike" cap="none" dirty="0">
                <a:solidFill>
                  <a:schemeClr val="dk1"/>
                </a:solidFill>
                <a:latin typeface="Century Gothic"/>
                <a:ea typeface="Century Gothic"/>
                <a:cs typeface="Century Gothic"/>
                <a:sym typeface="Century Gothic"/>
              </a:rPr>
              <a:t>, 2024</a:t>
            </a:r>
            <a:endParaRPr sz="1400" b="0" i="0" u="none" strike="noStrike" cap="none" dirty="0">
              <a:solidFill>
                <a:srgbClr val="000000"/>
              </a:solidFill>
              <a:latin typeface="Arial"/>
              <a:ea typeface="Arial"/>
              <a:cs typeface="Arial"/>
              <a:sym typeface="Arial"/>
            </a:endParaRPr>
          </a:p>
        </p:txBody>
      </p:sp>
      <p:pic>
        <p:nvPicPr>
          <p:cNvPr id="90" name="Google Shape;90;p13" descr="A picture containing text, sign&#10;&#10;Description automatically generated"/>
          <p:cNvPicPr preferRelativeResize="0"/>
          <p:nvPr/>
        </p:nvPicPr>
        <p:blipFill rotWithShape="1">
          <a:blip r:embed="rId3">
            <a:alphaModFix/>
          </a:blip>
          <a:srcRect/>
          <a:stretch/>
        </p:blipFill>
        <p:spPr>
          <a:xfrm>
            <a:off x="9979621" y="215297"/>
            <a:ext cx="1784290" cy="563236"/>
          </a:xfrm>
          <a:prstGeom prst="rect">
            <a:avLst/>
          </a:prstGeom>
          <a:noFill/>
          <a:ln>
            <a:noFill/>
          </a:ln>
        </p:spPr>
      </p:pic>
      <p:pic>
        <p:nvPicPr>
          <p:cNvPr id="11" name="Picture 10">
            <a:extLst>
              <a:ext uri="{FF2B5EF4-FFF2-40B4-BE49-F238E27FC236}">
                <a16:creationId xmlns:a16="http://schemas.microsoft.com/office/drawing/2014/main" id="{CCB3652F-EFC4-4018-A03F-C79E031A27FE}"/>
              </a:ext>
            </a:extLst>
          </p:cNvPr>
          <p:cNvPicPr>
            <a:picLocks noChangeAspect="1"/>
          </p:cNvPicPr>
          <p:nvPr/>
        </p:nvPicPr>
        <p:blipFill>
          <a:blip r:embed="rId4"/>
          <a:stretch>
            <a:fillRect/>
          </a:stretch>
        </p:blipFill>
        <p:spPr>
          <a:xfrm>
            <a:off x="7295404" y="1539558"/>
            <a:ext cx="4468507" cy="42154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14" descr="A picture containing text, sign&#10;&#10;Description automatically generated"/>
          <p:cNvPicPr preferRelativeResize="0"/>
          <p:nvPr/>
        </p:nvPicPr>
        <p:blipFill rotWithShape="1">
          <a:blip r:embed="rId3">
            <a:alphaModFix/>
          </a:blip>
          <a:srcRect/>
          <a:stretch/>
        </p:blipFill>
        <p:spPr>
          <a:xfrm>
            <a:off x="9920014" y="587000"/>
            <a:ext cx="1784290" cy="279446"/>
          </a:xfrm>
          <a:prstGeom prst="rect">
            <a:avLst/>
          </a:prstGeom>
          <a:noFill/>
          <a:ln>
            <a:noFill/>
          </a:ln>
        </p:spPr>
      </p:pic>
      <p:grpSp>
        <p:nvGrpSpPr>
          <p:cNvPr id="96" name="Google Shape;96;p14"/>
          <p:cNvGrpSpPr/>
          <p:nvPr/>
        </p:nvGrpSpPr>
        <p:grpSpPr>
          <a:xfrm>
            <a:off x="570260" y="2071148"/>
            <a:ext cx="5661727" cy="461665"/>
            <a:chOff x="570260" y="1865877"/>
            <a:chExt cx="5661727" cy="461665"/>
          </a:xfrm>
        </p:grpSpPr>
        <p:sp>
          <p:nvSpPr>
            <p:cNvPr id="97" name="Google Shape;97;p14"/>
            <p:cNvSpPr/>
            <p:nvPr/>
          </p:nvSpPr>
          <p:spPr>
            <a:xfrm>
              <a:off x="1692228" y="1889131"/>
              <a:ext cx="507959" cy="415158"/>
            </a:xfrm>
            <a:prstGeom prst="hexagon">
              <a:avLst>
                <a:gd name="adj" fmla="val 25000"/>
                <a:gd name="vf" fmla="val 115470"/>
              </a:avLst>
            </a:prstGeom>
            <a:solidFill>
              <a:srgbClr val="3CA38D"/>
            </a:solidFill>
            <a:ln w="3175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4"/>
            <p:cNvSpPr txBox="1"/>
            <p:nvPr/>
          </p:nvSpPr>
          <p:spPr>
            <a:xfrm>
              <a:off x="570260" y="1865877"/>
              <a:ext cx="2751894"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entury Gothic"/>
                  <a:ea typeface="Century Gothic"/>
                  <a:cs typeface="Century Gothic"/>
                  <a:sym typeface="Century Gothic"/>
                </a:rPr>
                <a:t>01</a:t>
              </a:r>
              <a:endParaRPr sz="1800" b="1" i="0" u="none" strike="noStrike" cap="none">
                <a:solidFill>
                  <a:schemeClr val="lt1"/>
                </a:solidFill>
                <a:latin typeface="Century Gothic"/>
                <a:ea typeface="Century Gothic"/>
                <a:cs typeface="Century Gothic"/>
                <a:sym typeface="Century Gothic"/>
              </a:endParaRPr>
            </a:p>
          </p:txBody>
        </p:sp>
        <p:sp>
          <p:nvSpPr>
            <p:cNvPr id="99" name="Google Shape;99;p14"/>
            <p:cNvSpPr txBox="1"/>
            <p:nvPr/>
          </p:nvSpPr>
          <p:spPr>
            <a:xfrm>
              <a:off x="2507190" y="1927432"/>
              <a:ext cx="3724797"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Century Gothic"/>
                  <a:ea typeface="Century Gothic"/>
                  <a:cs typeface="Century Gothic"/>
                  <a:sym typeface="Century Gothic"/>
                </a:rPr>
                <a:t>INTRODUCTION TO THE STATEMENT</a:t>
              </a:r>
              <a:endParaRPr sz="1200" b="0" i="0" u="none" strike="noStrike" cap="none" dirty="0">
                <a:solidFill>
                  <a:schemeClr val="dk1"/>
                </a:solidFill>
                <a:latin typeface="Century Gothic"/>
                <a:ea typeface="Century Gothic"/>
                <a:cs typeface="Century Gothic"/>
                <a:sym typeface="Century Gothic"/>
              </a:endParaRPr>
            </a:p>
          </p:txBody>
        </p:sp>
      </p:grpSp>
      <p:grpSp>
        <p:nvGrpSpPr>
          <p:cNvPr id="100" name="Google Shape;100;p14"/>
          <p:cNvGrpSpPr/>
          <p:nvPr/>
        </p:nvGrpSpPr>
        <p:grpSpPr>
          <a:xfrm>
            <a:off x="570260" y="2970480"/>
            <a:ext cx="4688825" cy="461665"/>
            <a:chOff x="570260" y="1865877"/>
            <a:chExt cx="4688825" cy="461665"/>
          </a:xfrm>
        </p:grpSpPr>
        <p:sp>
          <p:nvSpPr>
            <p:cNvPr id="101" name="Google Shape;101;p14"/>
            <p:cNvSpPr/>
            <p:nvPr/>
          </p:nvSpPr>
          <p:spPr>
            <a:xfrm>
              <a:off x="1692228" y="1889131"/>
              <a:ext cx="507959" cy="415158"/>
            </a:xfrm>
            <a:prstGeom prst="hexagon">
              <a:avLst>
                <a:gd name="adj" fmla="val 25000"/>
                <a:gd name="vf" fmla="val 115470"/>
              </a:avLst>
            </a:prstGeom>
            <a:solidFill>
              <a:srgbClr val="3CA38D"/>
            </a:solidFill>
            <a:ln w="3175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 name="Google Shape;102;p14"/>
            <p:cNvSpPr txBox="1"/>
            <p:nvPr/>
          </p:nvSpPr>
          <p:spPr>
            <a:xfrm>
              <a:off x="570260" y="1865877"/>
              <a:ext cx="2751894"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entury Gothic"/>
                  <a:ea typeface="Century Gothic"/>
                  <a:cs typeface="Century Gothic"/>
                  <a:sym typeface="Century Gothic"/>
                </a:rPr>
                <a:t>02</a:t>
              </a:r>
              <a:endParaRPr sz="1800" b="1" i="0" u="none" strike="noStrike" cap="none">
                <a:solidFill>
                  <a:schemeClr val="lt1"/>
                </a:solidFill>
                <a:latin typeface="Century Gothic"/>
                <a:ea typeface="Century Gothic"/>
                <a:cs typeface="Century Gothic"/>
                <a:sym typeface="Century Gothic"/>
              </a:endParaRPr>
            </a:p>
          </p:txBody>
        </p:sp>
        <p:sp>
          <p:nvSpPr>
            <p:cNvPr id="103" name="Google Shape;103;p14"/>
            <p:cNvSpPr txBox="1"/>
            <p:nvPr/>
          </p:nvSpPr>
          <p:spPr>
            <a:xfrm>
              <a:off x="2507191" y="1927432"/>
              <a:ext cx="2751894"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dirty="0">
                  <a:solidFill>
                    <a:schemeClr val="dk1"/>
                  </a:solidFill>
                  <a:latin typeface="Century Gothic"/>
                  <a:ea typeface="Century Gothic"/>
                  <a:cs typeface="Century Gothic"/>
                  <a:sym typeface="Century Gothic"/>
                </a:rPr>
                <a:t>NOBEL PRIZE ANALYSIS</a:t>
              </a:r>
              <a:endParaRPr sz="1200" b="0" i="0" u="none" strike="noStrike" cap="none" dirty="0">
                <a:solidFill>
                  <a:schemeClr val="dk1"/>
                </a:solidFill>
                <a:latin typeface="Century Gothic"/>
                <a:ea typeface="Century Gothic"/>
                <a:cs typeface="Century Gothic"/>
                <a:sym typeface="Century Gothic"/>
              </a:endParaRPr>
            </a:p>
          </p:txBody>
        </p:sp>
      </p:grpSp>
      <p:grpSp>
        <p:nvGrpSpPr>
          <p:cNvPr id="104" name="Google Shape;104;p14"/>
          <p:cNvGrpSpPr/>
          <p:nvPr/>
        </p:nvGrpSpPr>
        <p:grpSpPr>
          <a:xfrm>
            <a:off x="570260" y="3869811"/>
            <a:ext cx="5257068" cy="461665"/>
            <a:chOff x="570260" y="1865877"/>
            <a:chExt cx="5257068" cy="461665"/>
          </a:xfrm>
        </p:grpSpPr>
        <p:sp>
          <p:nvSpPr>
            <p:cNvPr id="105" name="Google Shape;105;p14"/>
            <p:cNvSpPr/>
            <p:nvPr/>
          </p:nvSpPr>
          <p:spPr>
            <a:xfrm>
              <a:off x="1692228" y="1889131"/>
              <a:ext cx="507959" cy="415158"/>
            </a:xfrm>
            <a:prstGeom prst="hexagon">
              <a:avLst>
                <a:gd name="adj" fmla="val 25000"/>
                <a:gd name="vf" fmla="val 115470"/>
              </a:avLst>
            </a:prstGeom>
            <a:solidFill>
              <a:srgbClr val="3CA38D"/>
            </a:solidFill>
            <a:ln w="3175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6" name="Google Shape;106;p14"/>
            <p:cNvSpPr txBox="1"/>
            <p:nvPr/>
          </p:nvSpPr>
          <p:spPr>
            <a:xfrm>
              <a:off x="570260" y="1865877"/>
              <a:ext cx="2751894"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entury Gothic"/>
                  <a:ea typeface="Century Gothic"/>
                  <a:cs typeface="Century Gothic"/>
                  <a:sym typeface="Century Gothic"/>
                </a:rPr>
                <a:t>03</a:t>
              </a:r>
              <a:endParaRPr sz="1800" b="1" i="0" u="none" strike="noStrike" cap="none">
                <a:solidFill>
                  <a:schemeClr val="lt1"/>
                </a:solidFill>
                <a:latin typeface="Century Gothic"/>
                <a:ea typeface="Century Gothic"/>
                <a:cs typeface="Century Gothic"/>
                <a:sym typeface="Century Gothic"/>
              </a:endParaRPr>
            </a:p>
          </p:txBody>
        </p:sp>
        <p:sp>
          <p:nvSpPr>
            <p:cNvPr id="107" name="Google Shape;107;p14"/>
            <p:cNvSpPr txBox="1"/>
            <p:nvPr/>
          </p:nvSpPr>
          <p:spPr>
            <a:xfrm>
              <a:off x="2537223" y="1927433"/>
              <a:ext cx="329010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800" i="0" u="none" strike="noStrike" cap="none" dirty="0">
                  <a:solidFill>
                    <a:schemeClr val="dk1"/>
                  </a:solidFill>
                  <a:latin typeface="Century Gothic"/>
                  <a:ea typeface="Century Gothic"/>
                  <a:cs typeface="Century Gothic"/>
                  <a:sym typeface="Century Gothic"/>
                </a:rPr>
                <a:t>INSIGHTS</a:t>
              </a:r>
              <a:endParaRPr sz="1800" i="0" u="none" strike="noStrike" cap="none" dirty="0">
                <a:solidFill>
                  <a:schemeClr val="dk1"/>
                </a:solidFill>
                <a:latin typeface="Century Gothic"/>
                <a:ea typeface="Century Gothic"/>
                <a:cs typeface="Century Gothic"/>
                <a:sym typeface="Century Gothic"/>
              </a:endParaRPr>
            </a:p>
          </p:txBody>
        </p:sp>
      </p:grpSp>
      <p:grpSp>
        <p:nvGrpSpPr>
          <p:cNvPr id="108" name="Google Shape;108;p14"/>
          <p:cNvGrpSpPr/>
          <p:nvPr/>
        </p:nvGrpSpPr>
        <p:grpSpPr>
          <a:xfrm>
            <a:off x="570260" y="4764677"/>
            <a:ext cx="5661727" cy="461665"/>
            <a:chOff x="570260" y="1865877"/>
            <a:chExt cx="5661727" cy="461665"/>
          </a:xfrm>
        </p:grpSpPr>
        <p:sp>
          <p:nvSpPr>
            <p:cNvPr id="109" name="Google Shape;109;p14"/>
            <p:cNvSpPr/>
            <p:nvPr/>
          </p:nvSpPr>
          <p:spPr>
            <a:xfrm>
              <a:off x="1692228" y="1889131"/>
              <a:ext cx="507959" cy="415158"/>
            </a:xfrm>
            <a:prstGeom prst="hexagon">
              <a:avLst>
                <a:gd name="adj" fmla="val 25000"/>
                <a:gd name="vf" fmla="val 115470"/>
              </a:avLst>
            </a:prstGeom>
            <a:solidFill>
              <a:srgbClr val="3CA38D"/>
            </a:solidFill>
            <a:ln w="3175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110" name="Google Shape;110;p14"/>
            <p:cNvSpPr txBox="1"/>
            <p:nvPr/>
          </p:nvSpPr>
          <p:spPr>
            <a:xfrm>
              <a:off x="570260" y="1865877"/>
              <a:ext cx="2751894"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chemeClr val="lt1"/>
                  </a:solidFill>
                  <a:latin typeface="Century Gothic"/>
                  <a:ea typeface="Century Gothic"/>
                  <a:cs typeface="Century Gothic"/>
                  <a:sym typeface="Century Gothic"/>
                </a:rPr>
                <a:t>04</a:t>
              </a:r>
              <a:endParaRPr sz="1800" b="1" i="0" u="none" strike="noStrike" cap="none" dirty="0">
                <a:solidFill>
                  <a:schemeClr val="lt1"/>
                </a:solidFill>
                <a:latin typeface="Century Gothic"/>
                <a:ea typeface="Century Gothic"/>
                <a:cs typeface="Century Gothic"/>
                <a:sym typeface="Century Gothic"/>
              </a:endParaRPr>
            </a:p>
          </p:txBody>
        </p:sp>
        <p:sp>
          <p:nvSpPr>
            <p:cNvPr id="111" name="Google Shape;111;p14"/>
            <p:cNvSpPr txBox="1"/>
            <p:nvPr/>
          </p:nvSpPr>
          <p:spPr>
            <a:xfrm>
              <a:off x="2537223" y="1901079"/>
              <a:ext cx="3694764"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dirty="0">
                  <a:solidFill>
                    <a:schemeClr val="dk1"/>
                  </a:solidFill>
                  <a:latin typeface="Century Gothic"/>
                  <a:ea typeface="Century Gothic"/>
                  <a:cs typeface="Century Gothic"/>
                  <a:sym typeface="Century Gothic"/>
                </a:rPr>
                <a:t>CONCLUSION</a:t>
              </a:r>
              <a:endParaRPr sz="1600" b="0" i="0" u="none" strike="noStrike" cap="none" dirty="0">
                <a:solidFill>
                  <a:schemeClr val="dk1"/>
                </a:solidFill>
                <a:latin typeface="Century Gothic"/>
                <a:ea typeface="Century Gothic"/>
                <a:cs typeface="Century Gothic"/>
                <a:sym typeface="Century Gothic"/>
              </a:endParaRPr>
            </a:p>
          </p:txBody>
        </p:sp>
      </p:grpSp>
      <p:sp>
        <p:nvSpPr>
          <p:cNvPr id="117" name="Google Shape;117;p14"/>
          <p:cNvSpPr/>
          <p:nvPr/>
        </p:nvSpPr>
        <p:spPr>
          <a:xfrm>
            <a:off x="-1682854" y="-255579"/>
            <a:ext cx="2751894" cy="1534836"/>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8" name="Google Shape;118;p14"/>
          <p:cNvSpPr/>
          <p:nvPr/>
        </p:nvSpPr>
        <p:spPr>
          <a:xfrm flipH="1">
            <a:off x="836550" y="495892"/>
            <a:ext cx="2242551" cy="461665"/>
          </a:xfrm>
          <a:prstGeom prst="hexagon">
            <a:avLst>
              <a:gd name="adj" fmla="val 25000"/>
              <a:gd name="vf" fmla="val 115470"/>
            </a:avLst>
          </a:prstGeom>
          <a:solidFill>
            <a:schemeClr val="lt1"/>
          </a:solidFill>
          <a:ln w="63500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9" name="Google Shape;119;p14"/>
          <p:cNvSpPr txBox="1"/>
          <p:nvPr/>
        </p:nvSpPr>
        <p:spPr>
          <a:xfrm>
            <a:off x="412607" y="434336"/>
            <a:ext cx="3377681"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3268F"/>
                </a:solidFill>
                <a:latin typeface="Century Gothic"/>
                <a:ea typeface="Century Gothic"/>
                <a:cs typeface="Century Gothic"/>
                <a:sym typeface="Century Gothic"/>
              </a:rPr>
              <a:t>CONTENTS</a:t>
            </a: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FA8D5582-811D-421C-A1C6-9C63DE17A0EE}"/>
              </a:ext>
            </a:extLst>
          </p:cNvPr>
          <p:cNvPicPr>
            <a:picLocks noChangeAspect="1"/>
          </p:cNvPicPr>
          <p:nvPr/>
        </p:nvPicPr>
        <p:blipFill>
          <a:blip r:embed="rId4"/>
          <a:stretch>
            <a:fillRect/>
          </a:stretch>
        </p:blipFill>
        <p:spPr>
          <a:xfrm>
            <a:off x="7153233" y="1813896"/>
            <a:ext cx="4468507" cy="42154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15"/>
          <p:cNvSpPr/>
          <p:nvPr/>
        </p:nvSpPr>
        <p:spPr>
          <a:xfrm>
            <a:off x="7529513" y="380690"/>
            <a:ext cx="4266510" cy="868675"/>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5"/>
          <p:cNvSpPr txBox="1"/>
          <p:nvPr/>
        </p:nvSpPr>
        <p:spPr>
          <a:xfrm>
            <a:off x="7509592" y="607785"/>
            <a:ext cx="42665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entury Gothic"/>
                <a:ea typeface="Century Gothic"/>
                <a:cs typeface="Century Gothic"/>
                <a:sym typeface="Century Gothic"/>
              </a:rPr>
              <a:t>OVERVIEW</a:t>
            </a:r>
            <a:endParaRPr sz="1400" b="0" i="0" u="none" strike="noStrike" cap="none" dirty="0">
              <a:solidFill>
                <a:srgbClr val="000000"/>
              </a:solidFill>
              <a:latin typeface="Arial"/>
              <a:ea typeface="Arial"/>
              <a:cs typeface="Arial"/>
              <a:sym typeface="Arial"/>
            </a:endParaRPr>
          </a:p>
        </p:txBody>
      </p:sp>
      <p:pic>
        <p:nvPicPr>
          <p:cNvPr id="127" name="Google Shape;127;p15" descr="A picture containing text, sign&#10;&#10;Description automatically generated"/>
          <p:cNvPicPr preferRelativeResize="0"/>
          <p:nvPr/>
        </p:nvPicPr>
        <p:blipFill rotWithShape="1">
          <a:blip r:embed="rId3">
            <a:alphaModFix/>
          </a:blip>
          <a:srcRect/>
          <a:stretch/>
        </p:blipFill>
        <p:spPr>
          <a:xfrm>
            <a:off x="250073" y="322902"/>
            <a:ext cx="1746237" cy="400109"/>
          </a:xfrm>
          <a:prstGeom prst="rect">
            <a:avLst/>
          </a:prstGeom>
          <a:noFill/>
          <a:ln>
            <a:noFill/>
          </a:ln>
        </p:spPr>
      </p:pic>
      <p:sp>
        <p:nvSpPr>
          <p:cNvPr id="128" name="Google Shape;128;p15"/>
          <p:cNvSpPr/>
          <p:nvPr/>
        </p:nvSpPr>
        <p:spPr>
          <a:xfrm>
            <a:off x="4662488" y="380690"/>
            <a:ext cx="549055" cy="154071"/>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2" name="Google Shape;132;p15" descr="Research with solid fill"/>
          <p:cNvPicPr preferRelativeResize="0"/>
          <p:nvPr/>
        </p:nvPicPr>
        <p:blipFill rotWithShape="1">
          <a:blip r:embed="rId4">
            <a:alphaModFix/>
          </a:blip>
          <a:srcRect/>
          <a:stretch/>
        </p:blipFill>
        <p:spPr>
          <a:xfrm>
            <a:off x="2234318" y="2330660"/>
            <a:ext cx="745447" cy="745447"/>
          </a:xfrm>
          <a:prstGeom prst="rect">
            <a:avLst/>
          </a:prstGeom>
          <a:noFill/>
          <a:ln>
            <a:noFill/>
          </a:ln>
        </p:spPr>
      </p:pic>
      <p:pic>
        <p:nvPicPr>
          <p:cNvPr id="134" name="Google Shape;134;p15" descr="Money with solid fill"/>
          <p:cNvPicPr preferRelativeResize="0"/>
          <p:nvPr/>
        </p:nvPicPr>
        <p:blipFill rotWithShape="1">
          <a:blip r:embed="rId5">
            <a:alphaModFix/>
          </a:blip>
          <a:srcRect/>
          <a:stretch/>
        </p:blipFill>
        <p:spPr>
          <a:xfrm>
            <a:off x="9256260" y="2316904"/>
            <a:ext cx="759203" cy="759203"/>
          </a:xfrm>
          <a:prstGeom prst="rect">
            <a:avLst/>
          </a:prstGeom>
          <a:noFill/>
          <a:ln>
            <a:noFill/>
          </a:ln>
        </p:spPr>
      </p:pic>
      <p:sp>
        <p:nvSpPr>
          <p:cNvPr id="2" name="TextBox 1">
            <a:extLst>
              <a:ext uri="{FF2B5EF4-FFF2-40B4-BE49-F238E27FC236}">
                <a16:creationId xmlns:a16="http://schemas.microsoft.com/office/drawing/2014/main" id="{86123842-8291-4451-A908-A2435D43F501}"/>
              </a:ext>
            </a:extLst>
          </p:cNvPr>
          <p:cNvSpPr txBox="1"/>
          <p:nvPr/>
        </p:nvSpPr>
        <p:spPr>
          <a:xfrm>
            <a:off x="1990724" y="941771"/>
            <a:ext cx="5343528" cy="461665"/>
          </a:xfrm>
          <a:prstGeom prst="rect">
            <a:avLst/>
          </a:prstGeom>
          <a:noFill/>
        </p:spPr>
        <p:txBody>
          <a:bodyPr wrap="square" rtlCol="0">
            <a:spAutoFit/>
          </a:bodyPr>
          <a:lstStyle/>
          <a:p>
            <a:pPr algn="ctr"/>
            <a:r>
              <a:rPr lang="en-GB" sz="2400" b="1" dirty="0"/>
              <a:t>NOBEL PRIZE  STATEMENT</a:t>
            </a:r>
          </a:p>
        </p:txBody>
      </p:sp>
      <p:sp>
        <p:nvSpPr>
          <p:cNvPr id="5" name="TextBox 4">
            <a:extLst>
              <a:ext uri="{FF2B5EF4-FFF2-40B4-BE49-F238E27FC236}">
                <a16:creationId xmlns:a16="http://schemas.microsoft.com/office/drawing/2014/main" id="{C7139C43-2EF2-4A12-B617-2E465B81E37F}"/>
              </a:ext>
            </a:extLst>
          </p:cNvPr>
          <p:cNvSpPr txBox="1"/>
          <p:nvPr/>
        </p:nvSpPr>
        <p:spPr>
          <a:xfrm>
            <a:off x="261116" y="1640381"/>
            <a:ext cx="11669767" cy="3955442"/>
          </a:xfrm>
          <a:prstGeom prst="rect">
            <a:avLst/>
          </a:prstGeom>
          <a:noFill/>
        </p:spPr>
        <p:txBody>
          <a:bodyPr wrap="square" rtlCol="0">
            <a:spAutoFit/>
          </a:bodyPr>
          <a:lstStyle/>
          <a:p>
            <a:pPr algn="just">
              <a:lnSpc>
                <a:spcPct val="200000"/>
              </a:lnSpc>
            </a:pPr>
            <a:r>
              <a:rPr lang="en-GB" sz="1600" dirty="0"/>
              <a:t>In September every year, people who fulfil the criteria set out by the prize awarding institutions are allowed to nominate candidate for the Nobel prize.</a:t>
            </a:r>
          </a:p>
          <a:p>
            <a:pPr algn="just">
              <a:lnSpc>
                <a:spcPct val="200000"/>
              </a:lnSpc>
            </a:pPr>
            <a:r>
              <a:rPr lang="en-GB" sz="1600" dirty="0"/>
              <a:t>Hundreds or Thousands of Nomination are received every year from member of Academies, University Professors, Scientist, Previous Noble Prize Laureates, member of parliamentary assemblies and more.</a:t>
            </a:r>
          </a:p>
          <a:p>
            <a:pPr algn="just">
              <a:lnSpc>
                <a:spcPct val="200000"/>
              </a:lnSpc>
            </a:pPr>
            <a:r>
              <a:rPr lang="en-GB" sz="1600" dirty="0"/>
              <a:t>According to the terms of Swedish chemist, engineer, and industrialist Alfred Nobel's 1895 will, which was made the year before his death, the Nobel Prize is given in five different categories to the person or people who have contributed the most to humanity in the year that has passed. First prizes were given out by the Nobel Foundation in 1901. In his will, Nobel specified that the prizes be given out in the following areas: literature, peace, physiology or medicine, physics, and chemistry. </a:t>
            </a:r>
          </a:p>
        </p:txBody>
      </p:sp>
      <p:pic>
        <p:nvPicPr>
          <p:cNvPr id="14" name="Picture 13">
            <a:extLst>
              <a:ext uri="{FF2B5EF4-FFF2-40B4-BE49-F238E27FC236}">
                <a16:creationId xmlns:a16="http://schemas.microsoft.com/office/drawing/2014/main" id="{6AC1DD38-E52B-412B-8891-E25B07A6C29A}"/>
              </a:ext>
            </a:extLst>
          </p:cNvPr>
          <p:cNvPicPr>
            <a:picLocks noChangeAspect="1"/>
          </p:cNvPicPr>
          <p:nvPr/>
        </p:nvPicPr>
        <p:blipFill>
          <a:blip r:embed="rId6"/>
          <a:stretch>
            <a:fillRect/>
          </a:stretch>
        </p:blipFill>
        <p:spPr>
          <a:xfrm>
            <a:off x="10864260" y="5731615"/>
            <a:ext cx="1099470" cy="103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15"/>
          <p:cNvSpPr/>
          <p:nvPr/>
        </p:nvSpPr>
        <p:spPr>
          <a:xfrm>
            <a:off x="7529513" y="380690"/>
            <a:ext cx="4266510" cy="1059254"/>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5"/>
          <p:cNvSpPr txBox="1"/>
          <p:nvPr/>
        </p:nvSpPr>
        <p:spPr>
          <a:xfrm>
            <a:off x="7509592" y="607785"/>
            <a:ext cx="42665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entury Gothic"/>
                <a:ea typeface="Century Gothic"/>
                <a:cs typeface="Century Gothic"/>
                <a:sym typeface="Century Gothic"/>
              </a:rPr>
              <a:t>OVERVIEW</a:t>
            </a:r>
            <a:endParaRPr sz="1400" b="0" i="0" u="none" strike="noStrike" cap="none" dirty="0">
              <a:solidFill>
                <a:srgbClr val="000000"/>
              </a:solidFill>
              <a:latin typeface="Arial"/>
              <a:ea typeface="Arial"/>
              <a:cs typeface="Arial"/>
              <a:sym typeface="Arial"/>
            </a:endParaRPr>
          </a:p>
        </p:txBody>
      </p:sp>
      <p:pic>
        <p:nvPicPr>
          <p:cNvPr id="127" name="Google Shape;127;p15" descr="A picture containing text, sign&#10;&#10;Description automatically generated"/>
          <p:cNvPicPr preferRelativeResize="0"/>
          <p:nvPr/>
        </p:nvPicPr>
        <p:blipFill rotWithShape="1">
          <a:blip r:embed="rId3">
            <a:alphaModFix/>
          </a:blip>
          <a:srcRect/>
          <a:stretch/>
        </p:blipFill>
        <p:spPr>
          <a:xfrm>
            <a:off x="250073" y="322902"/>
            <a:ext cx="1746237" cy="400109"/>
          </a:xfrm>
          <a:prstGeom prst="rect">
            <a:avLst/>
          </a:prstGeom>
          <a:noFill/>
          <a:ln>
            <a:noFill/>
          </a:ln>
        </p:spPr>
      </p:pic>
      <p:sp>
        <p:nvSpPr>
          <p:cNvPr id="128" name="Google Shape;128;p15"/>
          <p:cNvSpPr/>
          <p:nvPr/>
        </p:nvSpPr>
        <p:spPr>
          <a:xfrm>
            <a:off x="4387960" y="374978"/>
            <a:ext cx="549055" cy="551013"/>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2" name="Google Shape;132;p15" descr="Research with solid fill"/>
          <p:cNvPicPr preferRelativeResize="0"/>
          <p:nvPr/>
        </p:nvPicPr>
        <p:blipFill rotWithShape="1">
          <a:blip r:embed="rId4">
            <a:alphaModFix/>
          </a:blip>
          <a:srcRect/>
          <a:stretch/>
        </p:blipFill>
        <p:spPr>
          <a:xfrm>
            <a:off x="2234318" y="2330660"/>
            <a:ext cx="745447" cy="745447"/>
          </a:xfrm>
          <a:prstGeom prst="rect">
            <a:avLst/>
          </a:prstGeom>
          <a:noFill/>
          <a:ln>
            <a:noFill/>
          </a:ln>
        </p:spPr>
      </p:pic>
      <p:pic>
        <p:nvPicPr>
          <p:cNvPr id="134" name="Google Shape;134;p15" descr="Money with solid fill"/>
          <p:cNvPicPr preferRelativeResize="0"/>
          <p:nvPr/>
        </p:nvPicPr>
        <p:blipFill rotWithShape="1">
          <a:blip r:embed="rId5">
            <a:alphaModFix/>
          </a:blip>
          <a:srcRect/>
          <a:stretch/>
        </p:blipFill>
        <p:spPr>
          <a:xfrm>
            <a:off x="9256260" y="2316904"/>
            <a:ext cx="759203" cy="759203"/>
          </a:xfrm>
          <a:prstGeom prst="rect">
            <a:avLst/>
          </a:prstGeom>
          <a:noFill/>
          <a:ln>
            <a:noFill/>
          </a:ln>
        </p:spPr>
      </p:pic>
      <p:sp>
        <p:nvSpPr>
          <p:cNvPr id="2" name="TextBox 1">
            <a:extLst>
              <a:ext uri="{FF2B5EF4-FFF2-40B4-BE49-F238E27FC236}">
                <a16:creationId xmlns:a16="http://schemas.microsoft.com/office/drawing/2014/main" id="{86123842-8291-4451-A908-A2435D43F501}"/>
              </a:ext>
            </a:extLst>
          </p:cNvPr>
          <p:cNvSpPr txBox="1"/>
          <p:nvPr/>
        </p:nvSpPr>
        <p:spPr>
          <a:xfrm>
            <a:off x="1996310" y="1318072"/>
            <a:ext cx="5343528" cy="461665"/>
          </a:xfrm>
          <a:prstGeom prst="rect">
            <a:avLst/>
          </a:prstGeom>
          <a:noFill/>
        </p:spPr>
        <p:txBody>
          <a:bodyPr wrap="square" rtlCol="0">
            <a:spAutoFit/>
          </a:bodyPr>
          <a:lstStyle/>
          <a:p>
            <a:pPr algn="ctr"/>
            <a:r>
              <a:rPr lang="en-GB" sz="2400" b="1" dirty="0"/>
              <a:t>NOBEL PRIZE  STATEMENT</a:t>
            </a:r>
          </a:p>
        </p:txBody>
      </p:sp>
      <p:sp>
        <p:nvSpPr>
          <p:cNvPr id="5" name="TextBox 4">
            <a:extLst>
              <a:ext uri="{FF2B5EF4-FFF2-40B4-BE49-F238E27FC236}">
                <a16:creationId xmlns:a16="http://schemas.microsoft.com/office/drawing/2014/main" id="{C7139C43-2EF2-4A12-B617-2E465B81E37F}"/>
              </a:ext>
            </a:extLst>
          </p:cNvPr>
          <p:cNvSpPr txBox="1"/>
          <p:nvPr/>
        </p:nvSpPr>
        <p:spPr>
          <a:xfrm>
            <a:off x="250073" y="1832025"/>
            <a:ext cx="11322802" cy="3709221"/>
          </a:xfrm>
          <a:prstGeom prst="rect">
            <a:avLst/>
          </a:prstGeom>
          <a:noFill/>
        </p:spPr>
        <p:txBody>
          <a:bodyPr wrap="square" rtlCol="0">
            <a:spAutoFit/>
          </a:bodyPr>
          <a:lstStyle/>
          <a:p>
            <a:pPr algn="just">
              <a:lnSpc>
                <a:spcPct val="150000"/>
              </a:lnSpc>
            </a:pPr>
            <a:r>
              <a:rPr lang="en-GB" sz="1600" dirty="0"/>
              <a:t>It is also common to include the sixth prize for Economic Sciences, which is administered by the Nobel Foundation and was established by Sveriges Riksbank, the central bank of Sweden, and was first awarded in 1969.</a:t>
            </a:r>
          </a:p>
          <a:p>
            <a:pPr algn="just">
              <a:lnSpc>
                <a:spcPct val="200000"/>
              </a:lnSpc>
            </a:pPr>
            <a:r>
              <a:rPr lang="en-GB" sz="1600" dirty="0"/>
              <a:t>The first Nobel Prizes were given out in 1901 after a protracted process to realize his vision started after his death. Alfred Nobel's legacy lives on with the Sveriges Riksbank Prize in Economic Sciences, which was instituted in 1969. To commemorate the tercentennial of Sweden's central bank, its addition was an exception. New Nobel Prize winners and laureates are announced annually in October.</a:t>
            </a:r>
          </a:p>
          <a:p>
            <a:pPr algn="just">
              <a:lnSpc>
                <a:spcPct val="200000"/>
              </a:lnSpc>
            </a:pPr>
            <a:endParaRPr lang="en-GB" sz="1600" dirty="0"/>
          </a:p>
          <a:p>
            <a:pPr algn="just">
              <a:lnSpc>
                <a:spcPct val="200000"/>
              </a:lnSpc>
            </a:pPr>
            <a:endParaRPr lang="en-GB" sz="1600" dirty="0"/>
          </a:p>
        </p:txBody>
      </p:sp>
      <p:pic>
        <p:nvPicPr>
          <p:cNvPr id="14" name="Picture 13">
            <a:extLst>
              <a:ext uri="{FF2B5EF4-FFF2-40B4-BE49-F238E27FC236}">
                <a16:creationId xmlns:a16="http://schemas.microsoft.com/office/drawing/2014/main" id="{6AC1DD38-E52B-412B-8891-E25B07A6C29A}"/>
              </a:ext>
            </a:extLst>
          </p:cNvPr>
          <p:cNvPicPr>
            <a:picLocks noChangeAspect="1"/>
          </p:cNvPicPr>
          <p:nvPr/>
        </p:nvPicPr>
        <p:blipFill>
          <a:blip r:embed="rId6"/>
          <a:stretch>
            <a:fillRect/>
          </a:stretch>
        </p:blipFill>
        <p:spPr>
          <a:xfrm>
            <a:off x="10864260" y="5737728"/>
            <a:ext cx="1099470" cy="1037200"/>
          </a:xfrm>
          <a:prstGeom prst="rect">
            <a:avLst/>
          </a:prstGeom>
        </p:spPr>
      </p:pic>
    </p:spTree>
    <p:extLst>
      <p:ext uri="{BB962C8B-B14F-4D97-AF65-F5344CB8AC3E}">
        <p14:creationId xmlns:p14="http://schemas.microsoft.com/office/powerpoint/2010/main" val="3846523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15"/>
          <p:cNvSpPr/>
          <p:nvPr/>
        </p:nvSpPr>
        <p:spPr>
          <a:xfrm>
            <a:off x="7529513" y="380690"/>
            <a:ext cx="4266510" cy="1059254"/>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5"/>
          <p:cNvSpPr txBox="1"/>
          <p:nvPr/>
        </p:nvSpPr>
        <p:spPr>
          <a:xfrm>
            <a:off x="7509592" y="607785"/>
            <a:ext cx="42665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entury Gothic"/>
                <a:ea typeface="Century Gothic"/>
                <a:cs typeface="Century Gothic"/>
                <a:sym typeface="Century Gothic"/>
              </a:rPr>
              <a:t>OVERVIEW</a:t>
            </a:r>
            <a:endParaRPr sz="1400" b="0" i="0" u="none" strike="noStrike" cap="none" dirty="0">
              <a:solidFill>
                <a:srgbClr val="000000"/>
              </a:solidFill>
              <a:latin typeface="Arial"/>
              <a:ea typeface="Arial"/>
              <a:cs typeface="Arial"/>
              <a:sym typeface="Arial"/>
            </a:endParaRPr>
          </a:p>
        </p:txBody>
      </p:sp>
      <p:pic>
        <p:nvPicPr>
          <p:cNvPr id="127" name="Google Shape;127;p15" descr="A picture containing text, sign&#10;&#10;Description automatically generated"/>
          <p:cNvPicPr preferRelativeResize="0"/>
          <p:nvPr/>
        </p:nvPicPr>
        <p:blipFill rotWithShape="1">
          <a:blip r:embed="rId3">
            <a:alphaModFix/>
          </a:blip>
          <a:srcRect/>
          <a:stretch/>
        </p:blipFill>
        <p:spPr>
          <a:xfrm>
            <a:off x="250073" y="322902"/>
            <a:ext cx="1746237" cy="400109"/>
          </a:xfrm>
          <a:prstGeom prst="rect">
            <a:avLst/>
          </a:prstGeom>
          <a:noFill/>
          <a:ln>
            <a:noFill/>
          </a:ln>
        </p:spPr>
      </p:pic>
      <p:sp>
        <p:nvSpPr>
          <p:cNvPr id="128" name="Google Shape;128;p15"/>
          <p:cNvSpPr/>
          <p:nvPr/>
        </p:nvSpPr>
        <p:spPr>
          <a:xfrm>
            <a:off x="4387960" y="374978"/>
            <a:ext cx="549055" cy="551013"/>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4" name="Google Shape;134;p15" descr="Money with solid fill"/>
          <p:cNvPicPr preferRelativeResize="0"/>
          <p:nvPr/>
        </p:nvPicPr>
        <p:blipFill rotWithShape="1">
          <a:blip r:embed="rId4">
            <a:alphaModFix/>
          </a:blip>
          <a:srcRect/>
          <a:stretch/>
        </p:blipFill>
        <p:spPr>
          <a:xfrm>
            <a:off x="9256260" y="2316904"/>
            <a:ext cx="759203" cy="759203"/>
          </a:xfrm>
          <a:prstGeom prst="rect">
            <a:avLst/>
          </a:prstGeom>
          <a:noFill/>
          <a:ln>
            <a:noFill/>
          </a:ln>
        </p:spPr>
      </p:pic>
      <p:sp>
        <p:nvSpPr>
          <p:cNvPr id="2" name="TextBox 1">
            <a:extLst>
              <a:ext uri="{FF2B5EF4-FFF2-40B4-BE49-F238E27FC236}">
                <a16:creationId xmlns:a16="http://schemas.microsoft.com/office/drawing/2014/main" id="{86123842-8291-4451-A908-A2435D43F501}"/>
              </a:ext>
            </a:extLst>
          </p:cNvPr>
          <p:cNvSpPr txBox="1"/>
          <p:nvPr/>
        </p:nvSpPr>
        <p:spPr>
          <a:xfrm>
            <a:off x="1996310" y="1318072"/>
            <a:ext cx="5343528" cy="461665"/>
          </a:xfrm>
          <a:prstGeom prst="rect">
            <a:avLst/>
          </a:prstGeom>
          <a:noFill/>
        </p:spPr>
        <p:txBody>
          <a:bodyPr wrap="square" rtlCol="0">
            <a:spAutoFit/>
          </a:bodyPr>
          <a:lstStyle/>
          <a:p>
            <a:pPr algn="ctr"/>
            <a:r>
              <a:rPr lang="en-GB" sz="2400" b="1" dirty="0"/>
              <a:t>NOBEL PRIZE  STATEMENT</a:t>
            </a:r>
          </a:p>
        </p:txBody>
      </p:sp>
      <p:pic>
        <p:nvPicPr>
          <p:cNvPr id="14" name="Picture 13">
            <a:extLst>
              <a:ext uri="{FF2B5EF4-FFF2-40B4-BE49-F238E27FC236}">
                <a16:creationId xmlns:a16="http://schemas.microsoft.com/office/drawing/2014/main" id="{6AC1DD38-E52B-412B-8891-E25B07A6C29A}"/>
              </a:ext>
            </a:extLst>
          </p:cNvPr>
          <p:cNvPicPr>
            <a:picLocks noChangeAspect="1"/>
          </p:cNvPicPr>
          <p:nvPr/>
        </p:nvPicPr>
        <p:blipFill>
          <a:blip r:embed="rId5"/>
          <a:stretch>
            <a:fillRect/>
          </a:stretch>
        </p:blipFill>
        <p:spPr>
          <a:xfrm>
            <a:off x="10864260" y="5737728"/>
            <a:ext cx="1099470" cy="1037200"/>
          </a:xfrm>
          <a:prstGeom prst="rect">
            <a:avLst/>
          </a:prstGeom>
        </p:spPr>
      </p:pic>
      <p:sp>
        <p:nvSpPr>
          <p:cNvPr id="4" name="TextBox 3">
            <a:extLst>
              <a:ext uri="{FF2B5EF4-FFF2-40B4-BE49-F238E27FC236}">
                <a16:creationId xmlns:a16="http://schemas.microsoft.com/office/drawing/2014/main" id="{C91FDDC4-42FA-4ACA-959D-E71757CA1656}"/>
              </a:ext>
            </a:extLst>
          </p:cNvPr>
          <p:cNvSpPr txBox="1"/>
          <p:nvPr/>
        </p:nvSpPr>
        <p:spPr>
          <a:xfrm>
            <a:off x="537676" y="1998614"/>
            <a:ext cx="10855001" cy="4155497"/>
          </a:xfrm>
          <a:prstGeom prst="rect">
            <a:avLst/>
          </a:prstGeom>
          <a:noFill/>
        </p:spPr>
        <p:txBody>
          <a:bodyPr wrap="square" rtlCol="0">
            <a:spAutoFit/>
          </a:bodyPr>
          <a:lstStyle/>
          <a:p>
            <a:pPr algn="just">
              <a:lnSpc>
                <a:spcPct val="150000"/>
              </a:lnSpc>
            </a:pPr>
            <a:r>
              <a:rPr lang="en-GB" sz="1600" dirty="0"/>
              <a:t>As a Data Analyst the task is to conduct a comprehensive analysis and visualization on Nobel Prize, the number of record for the analysis is 923, while other variable to be consider and six categories' </a:t>
            </a:r>
            <a:r>
              <a:rPr lang="en-GB" sz="1600" dirty="0">
                <a:latin typeface="+mn-lt"/>
              </a:rPr>
              <a:t>P</a:t>
            </a:r>
            <a:r>
              <a:rPr lang="en-GB" sz="1600" b="0" i="0" u="none" strike="noStrike" dirty="0">
                <a:solidFill>
                  <a:srgbClr val="000000"/>
                </a:solidFill>
                <a:effectLst/>
                <a:latin typeface="+mn-lt"/>
              </a:rPr>
              <a:t>hysics</a:t>
            </a:r>
            <a:r>
              <a:rPr lang="en-GB" sz="1800" b="0" i="0" u="none" strike="noStrike" dirty="0">
                <a:solidFill>
                  <a:srgbClr val="000000"/>
                </a:solidFill>
                <a:effectLst/>
                <a:latin typeface="+mn-lt"/>
              </a:rPr>
              <a:t>, </a:t>
            </a:r>
            <a:r>
              <a:rPr lang="en-GB" sz="1600" dirty="0">
                <a:latin typeface="+mn-lt"/>
              </a:rPr>
              <a:t>Chemistry, Peace , Medicine, Literature and Economic awarded by Prominent Female and Male which has contribute tremendously to humankind in solving problem and providing a solution. The year recorded for 1901 -2021 for the datasets.</a:t>
            </a:r>
          </a:p>
          <a:p>
            <a:pPr algn="just">
              <a:lnSpc>
                <a:spcPct val="150000"/>
              </a:lnSpc>
            </a:pPr>
            <a:r>
              <a:rPr lang="en-GB" sz="1600" dirty="0">
                <a:latin typeface="+mn-lt"/>
              </a:rPr>
              <a:t>In this report, we aim to reveal interesting trends and patterns in the history of the Nobel Prizes, such as the distribution of prizes by nation, gender, and category, the most frequently awarded laureates and their contributions, and the influence of global events on the Nobel Prizes.</a:t>
            </a:r>
          </a:p>
          <a:p>
            <a:pPr algn="just">
              <a:lnSpc>
                <a:spcPct val="150000"/>
              </a:lnSpc>
            </a:pPr>
            <a:r>
              <a:rPr lang="en-GB" sz="1600" dirty="0">
                <a:latin typeface="+mn-lt"/>
              </a:rPr>
              <a:t>Our analysis of the Nobel Prizes data allowed me to offer insightful analysis of the most important prizes in physics, chemistry, medicine, literature, peace, and economics.</a:t>
            </a:r>
          </a:p>
          <a:p>
            <a:pPr algn="just">
              <a:lnSpc>
                <a:spcPct val="150000"/>
              </a:lnSpc>
            </a:pPr>
            <a:endParaRPr lang="en-GB" sz="1600" dirty="0">
              <a:latin typeface="+mn-lt"/>
            </a:endParaRPr>
          </a:p>
          <a:p>
            <a:pPr algn="just">
              <a:lnSpc>
                <a:spcPct val="150000"/>
              </a:lnSpc>
            </a:pPr>
            <a:r>
              <a:rPr lang="en-GB" sz="1600" dirty="0">
                <a:latin typeface="+mn-lt"/>
              </a:rPr>
              <a:t> </a:t>
            </a:r>
          </a:p>
        </p:txBody>
      </p:sp>
    </p:spTree>
    <p:extLst>
      <p:ext uri="{BB962C8B-B14F-4D97-AF65-F5344CB8AC3E}">
        <p14:creationId xmlns:p14="http://schemas.microsoft.com/office/powerpoint/2010/main" val="321299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15"/>
          <p:cNvSpPr/>
          <p:nvPr/>
        </p:nvSpPr>
        <p:spPr>
          <a:xfrm>
            <a:off x="7529513" y="380690"/>
            <a:ext cx="4266510" cy="1059254"/>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5"/>
          <p:cNvSpPr txBox="1"/>
          <p:nvPr/>
        </p:nvSpPr>
        <p:spPr>
          <a:xfrm>
            <a:off x="7509592" y="607785"/>
            <a:ext cx="42665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entury Gothic"/>
                <a:ea typeface="Century Gothic"/>
                <a:cs typeface="Century Gothic"/>
                <a:sym typeface="Century Gothic"/>
              </a:rPr>
              <a:t>OVERVIEW</a:t>
            </a:r>
            <a:endParaRPr sz="1400" b="0" i="0" u="none" strike="noStrike" cap="none" dirty="0">
              <a:solidFill>
                <a:srgbClr val="000000"/>
              </a:solidFill>
              <a:latin typeface="Arial"/>
              <a:ea typeface="Arial"/>
              <a:cs typeface="Arial"/>
              <a:sym typeface="Arial"/>
            </a:endParaRPr>
          </a:p>
        </p:txBody>
      </p:sp>
      <p:pic>
        <p:nvPicPr>
          <p:cNvPr id="127" name="Google Shape;127;p15" descr="A picture containing text, sign&#10;&#10;Description automatically generated"/>
          <p:cNvPicPr preferRelativeResize="0"/>
          <p:nvPr/>
        </p:nvPicPr>
        <p:blipFill rotWithShape="1">
          <a:blip r:embed="rId3">
            <a:alphaModFix/>
          </a:blip>
          <a:srcRect/>
          <a:stretch/>
        </p:blipFill>
        <p:spPr>
          <a:xfrm>
            <a:off x="250073" y="322902"/>
            <a:ext cx="1746237" cy="400109"/>
          </a:xfrm>
          <a:prstGeom prst="rect">
            <a:avLst/>
          </a:prstGeom>
          <a:noFill/>
          <a:ln>
            <a:noFill/>
          </a:ln>
        </p:spPr>
      </p:pic>
      <p:sp>
        <p:nvSpPr>
          <p:cNvPr id="128" name="Google Shape;128;p15"/>
          <p:cNvSpPr/>
          <p:nvPr/>
        </p:nvSpPr>
        <p:spPr>
          <a:xfrm>
            <a:off x="4387960" y="374978"/>
            <a:ext cx="549055" cy="551013"/>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4" name="Google Shape;134;p15" descr="Money with solid fill"/>
          <p:cNvPicPr preferRelativeResize="0"/>
          <p:nvPr/>
        </p:nvPicPr>
        <p:blipFill rotWithShape="1">
          <a:blip r:embed="rId4">
            <a:alphaModFix/>
          </a:blip>
          <a:srcRect/>
          <a:stretch/>
        </p:blipFill>
        <p:spPr>
          <a:xfrm>
            <a:off x="9256260" y="2316904"/>
            <a:ext cx="759203" cy="759203"/>
          </a:xfrm>
          <a:prstGeom prst="rect">
            <a:avLst/>
          </a:prstGeom>
          <a:noFill/>
          <a:ln>
            <a:noFill/>
          </a:ln>
        </p:spPr>
      </p:pic>
      <p:sp>
        <p:nvSpPr>
          <p:cNvPr id="2" name="TextBox 1">
            <a:extLst>
              <a:ext uri="{FF2B5EF4-FFF2-40B4-BE49-F238E27FC236}">
                <a16:creationId xmlns:a16="http://schemas.microsoft.com/office/drawing/2014/main" id="{86123842-8291-4451-A908-A2435D43F501}"/>
              </a:ext>
            </a:extLst>
          </p:cNvPr>
          <p:cNvSpPr txBox="1"/>
          <p:nvPr/>
        </p:nvSpPr>
        <p:spPr>
          <a:xfrm>
            <a:off x="1996310" y="1318072"/>
            <a:ext cx="5343528" cy="461665"/>
          </a:xfrm>
          <a:prstGeom prst="rect">
            <a:avLst/>
          </a:prstGeom>
          <a:noFill/>
        </p:spPr>
        <p:txBody>
          <a:bodyPr wrap="square" rtlCol="0">
            <a:spAutoFit/>
          </a:bodyPr>
          <a:lstStyle/>
          <a:p>
            <a:pPr algn="ctr"/>
            <a:r>
              <a:rPr lang="en-GB" sz="2400" b="1" dirty="0"/>
              <a:t>NOBEL PRIZE ANALYSIS</a:t>
            </a:r>
          </a:p>
        </p:txBody>
      </p:sp>
      <p:pic>
        <p:nvPicPr>
          <p:cNvPr id="14" name="Picture 13">
            <a:extLst>
              <a:ext uri="{FF2B5EF4-FFF2-40B4-BE49-F238E27FC236}">
                <a16:creationId xmlns:a16="http://schemas.microsoft.com/office/drawing/2014/main" id="{6AC1DD38-E52B-412B-8891-E25B07A6C29A}"/>
              </a:ext>
            </a:extLst>
          </p:cNvPr>
          <p:cNvPicPr>
            <a:picLocks noChangeAspect="1"/>
          </p:cNvPicPr>
          <p:nvPr/>
        </p:nvPicPr>
        <p:blipFill>
          <a:blip r:embed="rId5"/>
          <a:stretch>
            <a:fillRect/>
          </a:stretch>
        </p:blipFill>
        <p:spPr>
          <a:xfrm>
            <a:off x="10864260" y="5737728"/>
            <a:ext cx="1099470" cy="1037200"/>
          </a:xfrm>
          <a:prstGeom prst="rect">
            <a:avLst/>
          </a:prstGeom>
        </p:spPr>
      </p:pic>
      <p:pic>
        <p:nvPicPr>
          <p:cNvPr id="4" name="Picture 3">
            <a:extLst>
              <a:ext uri="{FF2B5EF4-FFF2-40B4-BE49-F238E27FC236}">
                <a16:creationId xmlns:a16="http://schemas.microsoft.com/office/drawing/2014/main" id="{E4AD1439-8C5E-930F-24F8-2F6EB84E83A0}"/>
              </a:ext>
            </a:extLst>
          </p:cNvPr>
          <p:cNvPicPr>
            <a:picLocks noChangeAspect="1"/>
          </p:cNvPicPr>
          <p:nvPr/>
        </p:nvPicPr>
        <p:blipFill>
          <a:blip r:embed="rId6"/>
          <a:stretch>
            <a:fillRect/>
          </a:stretch>
        </p:blipFill>
        <p:spPr>
          <a:xfrm>
            <a:off x="137797" y="1715947"/>
            <a:ext cx="2797943" cy="1840755"/>
          </a:xfrm>
          <a:prstGeom prst="rect">
            <a:avLst/>
          </a:prstGeom>
        </p:spPr>
      </p:pic>
      <p:cxnSp>
        <p:nvCxnSpPr>
          <p:cNvPr id="6" name="Straight Arrow Connector 5">
            <a:extLst>
              <a:ext uri="{FF2B5EF4-FFF2-40B4-BE49-F238E27FC236}">
                <a16:creationId xmlns:a16="http://schemas.microsoft.com/office/drawing/2014/main" id="{0723C22F-769B-D1A5-71EC-92C52932C8AD}"/>
              </a:ext>
            </a:extLst>
          </p:cNvPr>
          <p:cNvCxnSpPr>
            <a:cxnSpLocks/>
          </p:cNvCxnSpPr>
          <p:nvPr/>
        </p:nvCxnSpPr>
        <p:spPr>
          <a:xfrm flipV="1">
            <a:off x="2769129" y="2627188"/>
            <a:ext cx="2049903" cy="16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93720DC3-3C8C-051A-4814-C1564E36ABC2}"/>
              </a:ext>
            </a:extLst>
          </p:cNvPr>
          <p:cNvSpPr/>
          <p:nvPr/>
        </p:nvSpPr>
        <p:spPr>
          <a:xfrm>
            <a:off x="4852316" y="1808411"/>
            <a:ext cx="6372411" cy="144113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800" b="1" dirty="0"/>
              <a:t>This shows the total record for Laureate that was awarded from 1901  to 2021</a:t>
            </a:r>
          </a:p>
        </p:txBody>
      </p:sp>
      <p:pic>
        <p:nvPicPr>
          <p:cNvPr id="12" name="Picture 11">
            <a:extLst>
              <a:ext uri="{FF2B5EF4-FFF2-40B4-BE49-F238E27FC236}">
                <a16:creationId xmlns:a16="http://schemas.microsoft.com/office/drawing/2014/main" id="{4E8AD397-AD3E-F73B-63B6-163E7CF08BDF}"/>
              </a:ext>
            </a:extLst>
          </p:cNvPr>
          <p:cNvPicPr>
            <a:picLocks noChangeAspect="1"/>
          </p:cNvPicPr>
          <p:nvPr/>
        </p:nvPicPr>
        <p:blipFill>
          <a:blip r:embed="rId7"/>
          <a:stretch>
            <a:fillRect/>
          </a:stretch>
        </p:blipFill>
        <p:spPr>
          <a:xfrm>
            <a:off x="250073" y="3854264"/>
            <a:ext cx="2605094" cy="1364713"/>
          </a:xfrm>
          <a:prstGeom prst="rect">
            <a:avLst/>
          </a:prstGeom>
        </p:spPr>
      </p:pic>
      <p:cxnSp>
        <p:nvCxnSpPr>
          <p:cNvPr id="13" name="Straight Arrow Connector 12">
            <a:extLst>
              <a:ext uri="{FF2B5EF4-FFF2-40B4-BE49-F238E27FC236}">
                <a16:creationId xmlns:a16="http://schemas.microsoft.com/office/drawing/2014/main" id="{3380A92D-D13A-165E-70FD-75D5297466B2}"/>
              </a:ext>
            </a:extLst>
          </p:cNvPr>
          <p:cNvCxnSpPr>
            <a:cxnSpLocks/>
          </p:cNvCxnSpPr>
          <p:nvPr/>
        </p:nvCxnSpPr>
        <p:spPr>
          <a:xfrm>
            <a:off x="2935740" y="4485709"/>
            <a:ext cx="17267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6F6E4F5D-B9AD-5736-E364-56359B0AF5A3}"/>
              </a:ext>
            </a:extLst>
          </p:cNvPr>
          <p:cNvSpPr/>
          <p:nvPr/>
        </p:nvSpPr>
        <p:spPr>
          <a:xfrm>
            <a:off x="4832395" y="3752441"/>
            <a:ext cx="6392332" cy="146653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2000" b="1" dirty="0"/>
              <a:t>This shows the total record for Prize that was awarded to the Laureate</a:t>
            </a:r>
          </a:p>
        </p:txBody>
      </p:sp>
    </p:spTree>
    <p:extLst>
      <p:ext uri="{BB962C8B-B14F-4D97-AF65-F5344CB8AC3E}">
        <p14:creationId xmlns:p14="http://schemas.microsoft.com/office/powerpoint/2010/main" val="1736172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15"/>
          <p:cNvSpPr/>
          <p:nvPr/>
        </p:nvSpPr>
        <p:spPr>
          <a:xfrm>
            <a:off x="7529513" y="380690"/>
            <a:ext cx="4266510" cy="1059254"/>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5"/>
          <p:cNvSpPr txBox="1"/>
          <p:nvPr/>
        </p:nvSpPr>
        <p:spPr>
          <a:xfrm>
            <a:off x="7509592" y="607785"/>
            <a:ext cx="42665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entury Gothic"/>
                <a:ea typeface="Century Gothic"/>
                <a:cs typeface="Century Gothic"/>
                <a:sym typeface="Century Gothic"/>
              </a:rPr>
              <a:t>OVERVIEW</a:t>
            </a:r>
            <a:endParaRPr sz="1400" b="0" i="0" u="none" strike="noStrike" cap="none" dirty="0">
              <a:solidFill>
                <a:srgbClr val="000000"/>
              </a:solidFill>
              <a:latin typeface="Arial"/>
              <a:ea typeface="Arial"/>
              <a:cs typeface="Arial"/>
              <a:sym typeface="Arial"/>
            </a:endParaRPr>
          </a:p>
        </p:txBody>
      </p:sp>
      <p:pic>
        <p:nvPicPr>
          <p:cNvPr id="127" name="Google Shape;127;p15" descr="A picture containing text, sign&#10;&#10;Description automatically generated"/>
          <p:cNvPicPr preferRelativeResize="0"/>
          <p:nvPr/>
        </p:nvPicPr>
        <p:blipFill rotWithShape="1">
          <a:blip r:embed="rId3">
            <a:alphaModFix/>
          </a:blip>
          <a:srcRect/>
          <a:stretch/>
        </p:blipFill>
        <p:spPr>
          <a:xfrm>
            <a:off x="250073" y="322902"/>
            <a:ext cx="1746237" cy="400109"/>
          </a:xfrm>
          <a:prstGeom prst="rect">
            <a:avLst/>
          </a:prstGeom>
          <a:noFill/>
          <a:ln>
            <a:noFill/>
          </a:ln>
        </p:spPr>
      </p:pic>
      <p:sp>
        <p:nvSpPr>
          <p:cNvPr id="128" name="Google Shape;128;p15"/>
          <p:cNvSpPr/>
          <p:nvPr/>
        </p:nvSpPr>
        <p:spPr>
          <a:xfrm>
            <a:off x="4387960" y="374978"/>
            <a:ext cx="549055" cy="551013"/>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4" name="Google Shape;134;p15" descr="Money with solid fill"/>
          <p:cNvPicPr preferRelativeResize="0"/>
          <p:nvPr/>
        </p:nvPicPr>
        <p:blipFill rotWithShape="1">
          <a:blip r:embed="rId4">
            <a:alphaModFix/>
          </a:blip>
          <a:srcRect/>
          <a:stretch/>
        </p:blipFill>
        <p:spPr>
          <a:xfrm>
            <a:off x="9256260" y="2316904"/>
            <a:ext cx="759203" cy="759203"/>
          </a:xfrm>
          <a:prstGeom prst="rect">
            <a:avLst/>
          </a:prstGeom>
          <a:noFill/>
          <a:ln>
            <a:noFill/>
          </a:ln>
        </p:spPr>
      </p:pic>
      <p:sp>
        <p:nvSpPr>
          <p:cNvPr id="2" name="TextBox 1">
            <a:extLst>
              <a:ext uri="{FF2B5EF4-FFF2-40B4-BE49-F238E27FC236}">
                <a16:creationId xmlns:a16="http://schemas.microsoft.com/office/drawing/2014/main" id="{86123842-8291-4451-A908-A2435D43F501}"/>
              </a:ext>
            </a:extLst>
          </p:cNvPr>
          <p:cNvSpPr txBox="1"/>
          <p:nvPr/>
        </p:nvSpPr>
        <p:spPr>
          <a:xfrm>
            <a:off x="1996310" y="1318072"/>
            <a:ext cx="5343528" cy="461665"/>
          </a:xfrm>
          <a:prstGeom prst="rect">
            <a:avLst/>
          </a:prstGeom>
          <a:noFill/>
        </p:spPr>
        <p:txBody>
          <a:bodyPr wrap="square" rtlCol="0">
            <a:spAutoFit/>
          </a:bodyPr>
          <a:lstStyle/>
          <a:p>
            <a:pPr algn="ctr"/>
            <a:r>
              <a:rPr lang="en-GB" sz="2400" b="1" dirty="0"/>
              <a:t>NOBEL PRIZE ANALYSIS</a:t>
            </a:r>
          </a:p>
        </p:txBody>
      </p:sp>
      <p:pic>
        <p:nvPicPr>
          <p:cNvPr id="14" name="Picture 13">
            <a:extLst>
              <a:ext uri="{FF2B5EF4-FFF2-40B4-BE49-F238E27FC236}">
                <a16:creationId xmlns:a16="http://schemas.microsoft.com/office/drawing/2014/main" id="{6AC1DD38-E52B-412B-8891-E25B07A6C29A}"/>
              </a:ext>
            </a:extLst>
          </p:cNvPr>
          <p:cNvPicPr>
            <a:picLocks noChangeAspect="1"/>
          </p:cNvPicPr>
          <p:nvPr/>
        </p:nvPicPr>
        <p:blipFill>
          <a:blip r:embed="rId5"/>
          <a:stretch>
            <a:fillRect/>
          </a:stretch>
        </p:blipFill>
        <p:spPr>
          <a:xfrm>
            <a:off x="10864260" y="5737728"/>
            <a:ext cx="1099470" cy="1037200"/>
          </a:xfrm>
          <a:prstGeom prst="rect">
            <a:avLst/>
          </a:prstGeom>
        </p:spPr>
      </p:pic>
      <p:cxnSp>
        <p:nvCxnSpPr>
          <p:cNvPr id="6" name="Straight Arrow Connector 5">
            <a:extLst>
              <a:ext uri="{FF2B5EF4-FFF2-40B4-BE49-F238E27FC236}">
                <a16:creationId xmlns:a16="http://schemas.microsoft.com/office/drawing/2014/main" id="{0723C22F-769B-D1A5-71EC-92C52932C8AD}"/>
              </a:ext>
            </a:extLst>
          </p:cNvPr>
          <p:cNvCxnSpPr>
            <a:cxnSpLocks/>
          </p:cNvCxnSpPr>
          <p:nvPr/>
        </p:nvCxnSpPr>
        <p:spPr>
          <a:xfrm flipV="1">
            <a:off x="2769129" y="2627188"/>
            <a:ext cx="2049903" cy="16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93720DC3-3C8C-051A-4814-C1564E36ABC2}"/>
              </a:ext>
            </a:extLst>
          </p:cNvPr>
          <p:cNvSpPr/>
          <p:nvPr/>
        </p:nvSpPr>
        <p:spPr>
          <a:xfrm>
            <a:off x="4852316" y="1808411"/>
            <a:ext cx="6363080" cy="144113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800" b="1" dirty="0"/>
              <a:t>This shows the total record for Male Laureate that will be awarded for the Nobel prize.</a:t>
            </a:r>
          </a:p>
        </p:txBody>
      </p:sp>
      <p:cxnSp>
        <p:nvCxnSpPr>
          <p:cNvPr id="13" name="Straight Arrow Connector 12">
            <a:extLst>
              <a:ext uri="{FF2B5EF4-FFF2-40B4-BE49-F238E27FC236}">
                <a16:creationId xmlns:a16="http://schemas.microsoft.com/office/drawing/2014/main" id="{3380A92D-D13A-165E-70FD-75D5297466B2}"/>
              </a:ext>
            </a:extLst>
          </p:cNvPr>
          <p:cNvCxnSpPr>
            <a:cxnSpLocks/>
          </p:cNvCxnSpPr>
          <p:nvPr/>
        </p:nvCxnSpPr>
        <p:spPr>
          <a:xfrm>
            <a:off x="2935740" y="4485709"/>
            <a:ext cx="17267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6F6E4F5D-B9AD-5736-E364-56359B0AF5A3}"/>
              </a:ext>
            </a:extLst>
          </p:cNvPr>
          <p:cNvSpPr/>
          <p:nvPr/>
        </p:nvSpPr>
        <p:spPr>
          <a:xfrm>
            <a:off x="4832395" y="3752441"/>
            <a:ext cx="6363080" cy="146653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800" b="1" dirty="0"/>
              <a:t>This shows the total record for female Laureate that will be awarded for the Nobel prize.</a:t>
            </a:r>
          </a:p>
        </p:txBody>
      </p:sp>
      <p:pic>
        <p:nvPicPr>
          <p:cNvPr id="5" name="Picture 4">
            <a:extLst>
              <a:ext uri="{FF2B5EF4-FFF2-40B4-BE49-F238E27FC236}">
                <a16:creationId xmlns:a16="http://schemas.microsoft.com/office/drawing/2014/main" id="{A64538AD-540E-6B69-D5D8-47A01AE223BB}"/>
              </a:ext>
            </a:extLst>
          </p:cNvPr>
          <p:cNvPicPr>
            <a:picLocks noChangeAspect="1"/>
          </p:cNvPicPr>
          <p:nvPr/>
        </p:nvPicPr>
        <p:blipFill>
          <a:blip r:embed="rId6"/>
          <a:stretch>
            <a:fillRect/>
          </a:stretch>
        </p:blipFill>
        <p:spPr>
          <a:xfrm>
            <a:off x="250073" y="1861922"/>
            <a:ext cx="2781541" cy="1386960"/>
          </a:xfrm>
          <a:prstGeom prst="rect">
            <a:avLst/>
          </a:prstGeom>
        </p:spPr>
      </p:pic>
      <p:pic>
        <p:nvPicPr>
          <p:cNvPr id="9" name="Picture 8">
            <a:extLst>
              <a:ext uri="{FF2B5EF4-FFF2-40B4-BE49-F238E27FC236}">
                <a16:creationId xmlns:a16="http://schemas.microsoft.com/office/drawing/2014/main" id="{30B25FE6-55E5-52E6-0FB9-456A92F56613}"/>
              </a:ext>
            </a:extLst>
          </p:cNvPr>
          <p:cNvPicPr>
            <a:picLocks noChangeAspect="1"/>
          </p:cNvPicPr>
          <p:nvPr/>
        </p:nvPicPr>
        <p:blipFill>
          <a:blip r:embed="rId7"/>
          <a:stretch>
            <a:fillRect/>
          </a:stretch>
        </p:blipFill>
        <p:spPr>
          <a:xfrm>
            <a:off x="566330" y="3826522"/>
            <a:ext cx="2149026" cy="1318374"/>
          </a:xfrm>
          <a:prstGeom prst="rect">
            <a:avLst/>
          </a:prstGeom>
        </p:spPr>
      </p:pic>
    </p:spTree>
    <p:extLst>
      <p:ext uri="{BB962C8B-B14F-4D97-AF65-F5344CB8AC3E}">
        <p14:creationId xmlns:p14="http://schemas.microsoft.com/office/powerpoint/2010/main" val="2710952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15"/>
          <p:cNvSpPr/>
          <p:nvPr/>
        </p:nvSpPr>
        <p:spPr>
          <a:xfrm>
            <a:off x="7529513" y="380690"/>
            <a:ext cx="4266510" cy="1059254"/>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5"/>
          <p:cNvSpPr txBox="1"/>
          <p:nvPr/>
        </p:nvSpPr>
        <p:spPr>
          <a:xfrm>
            <a:off x="7509592" y="607785"/>
            <a:ext cx="42665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entury Gothic"/>
                <a:ea typeface="Century Gothic"/>
                <a:cs typeface="Century Gothic"/>
                <a:sym typeface="Century Gothic"/>
              </a:rPr>
              <a:t>OVERVIEW</a:t>
            </a:r>
            <a:endParaRPr sz="1400" b="0" i="0" u="none" strike="noStrike" cap="none" dirty="0">
              <a:solidFill>
                <a:srgbClr val="000000"/>
              </a:solidFill>
              <a:latin typeface="Arial"/>
              <a:ea typeface="Arial"/>
              <a:cs typeface="Arial"/>
              <a:sym typeface="Arial"/>
            </a:endParaRPr>
          </a:p>
        </p:txBody>
      </p:sp>
      <p:pic>
        <p:nvPicPr>
          <p:cNvPr id="127" name="Google Shape;127;p15" descr="A picture containing text, sign&#10;&#10;Description automatically generated"/>
          <p:cNvPicPr preferRelativeResize="0"/>
          <p:nvPr/>
        </p:nvPicPr>
        <p:blipFill rotWithShape="1">
          <a:blip r:embed="rId3">
            <a:alphaModFix/>
          </a:blip>
          <a:srcRect/>
          <a:stretch/>
        </p:blipFill>
        <p:spPr>
          <a:xfrm>
            <a:off x="250073" y="322902"/>
            <a:ext cx="1746237" cy="400109"/>
          </a:xfrm>
          <a:prstGeom prst="rect">
            <a:avLst/>
          </a:prstGeom>
          <a:noFill/>
          <a:ln>
            <a:noFill/>
          </a:ln>
        </p:spPr>
      </p:pic>
      <p:sp>
        <p:nvSpPr>
          <p:cNvPr id="128" name="Google Shape;128;p15"/>
          <p:cNvSpPr/>
          <p:nvPr/>
        </p:nvSpPr>
        <p:spPr>
          <a:xfrm>
            <a:off x="4387960" y="374978"/>
            <a:ext cx="549055" cy="551013"/>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4" name="Google Shape;134;p15" descr="Money with solid fill"/>
          <p:cNvPicPr preferRelativeResize="0"/>
          <p:nvPr/>
        </p:nvPicPr>
        <p:blipFill rotWithShape="1">
          <a:blip r:embed="rId4">
            <a:alphaModFix/>
          </a:blip>
          <a:srcRect/>
          <a:stretch/>
        </p:blipFill>
        <p:spPr>
          <a:xfrm>
            <a:off x="9256260" y="2316904"/>
            <a:ext cx="759203" cy="759203"/>
          </a:xfrm>
          <a:prstGeom prst="rect">
            <a:avLst/>
          </a:prstGeom>
          <a:noFill/>
          <a:ln>
            <a:noFill/>
          </a:ln>
        </p:spPr>
      </p:pic>
      <p:sp>
        <p:nvSpPr>
          <p:cNvPr id="2" name="TextBox 1">
            <a:extLst>
              <a:ext uri="{FF2B5EF4-FFF2-40B4-BE49-F238E27FC236}">
                <a16:creationId xmlns:a16="http://schemas.microsoft.com/office/drawing/2014/main" id="{86123842-8291-4451-A908-A2435D43F501}"/>
              </a:ext>
            </a:extLst>
          </p:cNvPr>
          <p:cNvSpPr txBox="1"/>
          <p:nvPr/>
        </p:nvSpPr>
        <p:spPr>
          <a:xfrm>
            <a:off x="1996310" y="1318072"/>
            <a:ext cx="5343528" cy="461665"/>
          </a:xfrm>
          <a:prstGeom prst="rect">
            <a:avLst/>
          </a:prstGeom>
          <a:noFill/>
        </p:spPr>
        <p:txBody>
          <a:bodyPr wrap="square" rtlCol="0">
            <a:spAutoFit/>
          </a:bodyPr>
          <a:lstStyle/>
          <a:p>
            <a:pPr algn="ctr"/>
            <a:r>
              <a:rPr lang="en-GB" sz="2400" b="1" dirty="0"/>
              <a:t>NOBEL PRIZE ANALYSIS</a:t>
            </a:r>
          </a:p>
        </p:txBody>
      </p:sp>
      <p:pic>
        <p:nvPicPr>
          <p:cNvPr id="14" name="Picture 13">
            <a:extLst>
              <a:ext uri="{FF2B5EF4-FFF2-40B4-BE49-F238E27FC236}">
                <a16:creationId xmlns:a16="http://schemas.microsoft.com/office/drawing/2014/main" id="{6AC1DD38-E52B-412B-8891-E25B07A6C29A}"/>
              </a:ext>
            </a:extLst>
          </p:cNvPr>
          <p:cNvPicPr>
            <a:picLocks noChangeAspect="1"/>
          </p:cNvPicPr>
          <p:nvPr/>
        </p:nvPicPr>
        <p:blipFill>
          <a:blip r:embed="rId5"/>
          <a:stretch>
            <a:fillRect/>
          </a:stretch>
        </p:blipFill>
        <p:spPr>
          <a:xfrm>
            <a:off x="10864260" y="5737728"/>
            <a:ext cx="1099470" cy="1037200"/>
          </a:xfrm>
          <a:prstGeom prst="rect">
            <a:avLst/>
          </a:prstGeom>
        </p:spPr>
      </p:pic>
      <p:cxnSp>
        <p:nvCxnSpPr>
          <p:cNvPr id="6" name="Straight Arrow Connector 5">
            <a:extLst>
              <a:ext uri="{FF2B5EF4-FFF2-40B4-BE49-F238E27FC236}">
                <a16:creationId xmlns:a16="http://schemas.microsoft.com/office/drawing/2014/main" id="{0723C22F-769B-D1A5-71EC-92C52932C8AD}"/>
              </a:ext>
            </a:extLst>
          </p:cNvPr>
          <p:cNvCxnSpPr>
            <a:cxnSpLocks/>
          </p:cNvCxnSpPr>
          <p:nvPr/>
        </p:nvCxnSpPr>
        <p:spPr>
          <a:xfrm flipV="1">
            <a:off x="2769129" y="2627188"/>
            <a:ext cx="2049903" cy="16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93720DC3-3C8C-051A-4814-C1564E36ABC2}"/>
              </a:ext>
            </a:extLst>
          </p:cNvPr>
          <p:cNvSpPr/>
          <p:nvPr/>
        </p:nvSpPr>
        <p:spPr>
          <a:xfrm>
            <a:off x="4852316" y="1808411"/>
            <a:ext cx="5354393" cy="144113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800" b="1" dirty="0"/>
              <a:t>This shows the minimum average of youngest laureate awardee</a:t>
            </a:r>
          </a:p>
        </p:txBody>
      </p:sp>
      <p:cxnSp>
        <p:nvCxnSpPr>
          <p:cNvPr id="13" name="Straight Arrow Connector 12">
            <a:extLst>
              <a:ext uri="{FF2B5EF4-FFF2-40B4-BE49-F238E27FC236}">
                <a16:creationId xmlns:a16="http://schemas.microsoft.com/office/drawing/2014/main" id="{3380A92D-D13A-165E-70FD-75D5297466B2}"/>
              </a:ext>
            </a:extLst>
          </p:cNvPr>
          <p:cNvCxnSpPr>
            <a:cxnSpLocks/>
          </p:cNvCxnSpPr>
          <p:nvPr/>
        </p:nvCxnSpPr>
        <p:spPr>
          <a:xfrm>
            <a:off x="2935740" y="4485709"/>
            <a:ext cx="17267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6F6E4F5D-B9AD-5736-E364-56359B0AF5A3}"/>
              </a:ext>
            </a:extLst>
          </p:cNvPr>
          <p:cNvSpPr/>
          <p:nvPr/>
        </p:nvSpPr>
        <p:spPr>
          <a:xfrm>
            <a:off x="4832395" y="3752441"/>
            <a:ext cx="5354393" cy="146653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b="1" dirty="0"/>
              <a:t>This shows the maximum average of oldest laureate awardee</a:t>
            </a:r>
          </a:p>
        </p:txBody>
      </p:sp>
      <p:pic>
        <p:nvPicPr>
          <p:cNvPr id="4" name="Picture 3">
            <a:extLst>
              <a:ext uri="{FF2B5EF4-FFF2-40B4-BE49-F238E27FC236}">
                <a16:creationId xmlns:a16="http://schemas.microsoft.com/office/drawing/2014/main" id="{FB9523EC-67AE-DF07-E861-406CF190DC49}"/>
              </a:ext>
            </a:extLst>
          </p:cNvPr>
          <p:cNvPicPr>
            <a:picLocks noChangeAspect="1"/>
          </p:cNvPicPr>
          <p:nvPr/>
        </p:nvPicPr>
        <p:blipFill>
          <a:blip r:embed="rId6"/>
          <a:stretch>
            <a:fillRect/>
          </a:stretch>
        </p:blipFill>
        <p:spPr>
          <a:xfrm>
            <a:off x="603818" y="1772672"/>
            <a:ext cx="2331922" cy="1585097"/>
          </a:xfrm>
          <a:prstGeom prst="rect">
            <a:avLst/>
          </a:prstGeom>
        </p:spPr>
      </p:pic>
      <p:pic>
        <p:nvPicPr>
          <p:cNvPr id="10" name="Picture 9">
            <a:extLst>
              <a:ext uri="{FF2B5EF4-FFF2-40B4-BE49-F238E27FC236}">
                <a16:creationId xmlns:a16="http://schemas.microsoft.com/office/drawing/2014/main" id="{5FD6F670-DFD4-4FEA-1D94-82B28ECD43D5}"/>
              </a:ext>
            </a:extLst>
          </p:cNvPr>
          <p:cNvPicPr>
            <a:picLocks noChangeAspect="1"/>
          </p:cNvPicPr>
          <p:nvPr/>
        </p:nvPicPr>
        <p:blipFill>
          <a:blip r:embed="rId7"/>
          <a:stretch>
            <a:fillRect/>
          </a:stretch>
        </p:blipFill>
        <p:spPr>
          <a:xfrm>
            <a:off x="485697" y="3657817"/>
            <a:ext cx="2568163" cy="1539373"/>
          </a:xfrm>
          <a:prstGeom prst="rect">
            <a:avLst/>
          </a:prstGeom>
        </p:spPr>
      </p:pic>
    </p:spTree>
    <p:extLst>
      <p:ext uri="{BB962C8B-B14F-4D97-AF65-F5344CB8AC3E}">
        <p14:creationId xmlns:p14="http://schemas.microsoft.com/office/powerpoint/2010/main" val="3145997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15"/>
          <p:cNvSpPr/>
          <p:nvPr/>
        </p:nvSpPr>
        <p:spPr>
          <a:xfrm>
            <a:off x="7529513" y="380690"/>
            <a:ext cx="4266510" cy="1059254"/>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5"/>
          <p:cNvSpPr txBox="1"/>
          <p:nvPr/>
        </p:nvSpPr>
        <p:spPr>
          <a:xfrm>
            <a:off x="7509592" y="607785"/>
            <a:ext cx="42665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entury Gothic"/>
                <a:ea typeface="Century Gothic"/>
                <a:cs typeface="Century Gothic"/>
                <a:sym typeface="Century Gothic"/>
              </a:rPr>
              <a:t>OVERVIEW</a:t>
            </a:r>
            <a:endParaRPr sz="1400" b="0" i="0" u="none" strike="noStrike" cap="none" dirty="0">
              <a:solidFill>
                <a:srgbClr val="000000"/>
              </a:solidFill>
              <a:latin typeface="Arial"/>
              <a:ea typeface="Arial"/>
              <a:cs typeface="Arial"/>
              <a:sym typeface="Arial"/>
            </a:endParaRPr>
          </a:p>
        </p:txBody>
      </p:sp>
      <p:pic>
        <p:nvPicPr>
          <p:cNvPr id="127" name="Google Shape;127;p15" descr="A picture containing text, sign&#10;&#10;Description automatically generated"/>
          <p:cNvPicPr preferRelativeResize="0"/>
          <p:nvPr/>
        </p:nvPicPr>
        <p:blipFill rotWithShape="1">
          <a:blip r:embed="rId3">
            <a:alphaModFix/>
          </a:blip>
          <a:srcRect/>
          <a:stretch/>
        </p:blipFill>
        <p:spPr>
          <a:xfrm>
            <a:off x="250073" y="322902"/>
            <a:ext cx="1746237" cy="400109"/>
          </a:xfrm>
          <a:prstGeom prst="rect">
            <a:avLst/>
          </a:prstGeom>
          <a:noFill/>
          <a:ln>
            <a:noFill/>
          </a:ln>
        </p:spPr>
      </p:pic>
      <p:sp>
        <p:nvSpPr>
          <p:cNvPr id="128" name="Google Shape;128;p15"/>
          <p:cNvSpPr/>
          <p:nvPr/>
        </p:nvSpPr>
        <p:spPr>
          <a:xfrm>
            <a:off x="4387960" y="374978"/>
            <a:ext cx="549055" cy="551013"/>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4" name="Google Shape;134;p15" descr="Money with solid fill"/>
          <p:cNvPicPr preferRelativeResize="0"/>
          <p:nvPr/>
        </p:nvPicPr>
        <p:blipFill rotWithShape="1">
          <a:blip r:embed="rId4">
            <a:alphaModFix/>
          </a:blip>
          <a:srcRect/>
          <a:stretch/>
        </p:blipFill>
        <p:spPr>
          <a:xfrm>
            <a:off x="9256260" y="2316904"/>
            <a:ext cx="759203" cy="759203"/>
          </a:xfrm>
          <a:prstGeom prst="rect">
            <a:avLst/>
          </a:prstGeom>
          <a:noFill/>
          <a:ln>
            <a:noFill/>
          </a:ln>
        </p:spPr>
      </p:pic>
      <p:sp>
        <p:nvSpPr>
          <p:cNvPr id="2" name="TextBox 1">
            <a:extLst>
              <a:ext uri="{FF2B5EF4-FFF2-40B4-BE49-F238E27FC236}">
                <a16:creationId xmlns:a16="http://schemas.microsoft.com/office/drawing/2014/main" id="{86123842-8291-4451-A908-A2435D43F501}"/>
              </a:ext>
            </a:extLst>
          </p:cNvPr>
          <p:cNvSpPr txBox="1"/>
          <p:nvPr/>
        </p:nvSpPr>
        <p:spPr>
          <a:xfrm>
            <a:off x="1996310" y="1318072"/>
            <a:ext cx="5343528" cy="461665"/>
          </a:xfrm>
          <a:prstGeom prst="rect">
            <a:avLst/>
          </a:prstGeom>
          <a:noFill/>
        </p:spPr>
        <p:txBody>
          <a:bodyPr wrap="square" rtlCol="0">
            <a:spAutoFit/>
          </a:bodyPr>
          <a:lstStyle/>
          <a:p>
            <a:pPr algn="ctr"/>
            <a:r>
              <a:rPr lang="en-GB" sz="2400" b="1" dirty="0"/>
              <a:t>NOBEL PRIZE REPORT</a:t>
            </a:r>
          </a:p>
        </p:txBody>
      </p:sp>
      <p:pic>
        <p:nvPicPr>
          <p:cNvPr id="14" name="Picture 13">
            <a:extLst>
              <a:ext uri="{FF2B5EF4-FFF2-40B4-BE49-F238E27FC236}">
                <a16:creationId xmlns:a16="http://schemas.microsoft.com/office/drawing/2014/main" id="{6AC1DD38-E52B-412B-8891-E25B07A6C29A}"/>
              </a:ext>
            </a:extLst>
          </p:cNvPr>
          <p:cNvPicPr>
            <a:picLocks noChangeAspect="1"/>
          </p:cNvPicPr>
          <p:nvPr/>
        </p:nvPicPr>
        <p:blipFill>
          <a:blip r:embed="rId5"/>
          <a:stretch>
            <a:fillRect/>
          </a:stretch>
        </p:blipFill>
        <p:spPr>
          <a:xfrm>
            <a:off x="10864260" y="5737728"/>
            <a:ext cx="1099470" cy="1037200"/>
          </a:xfrm>
          <a:prstGeom prst="rect">
            <a:avLst/>
          </a:prstGeom>
        </p:spPr>
      </p:pic>
      <p:pic>
        <p:nvPicPr>
          <p:cNvPr id="5" name="Picture 4">
            <a:extLst>
              <a:ext uri="{FF2B5EF4-FFF2-40B4-BE49-F238E27FC236}">
                <a16:creationId xmlns:a16="http://schemas.microsoft.com/office/drawing/2014/main" id="{71AF1813-1078-D418-5E70-2E329D84D58F}"/>
              </a:ext>
            </a:extLst>
          </p:cNvPr>
          <p:cNvPicPr>
            <a:picLocks noChangeAspect="1"/>
          </p:cNvPicPr>
          <p:nvPr/>
        </p:nvPicPr>
        <p:blipFill>
          <a:blip r:embed="rId6"/>
          <a:stretch>
            <a:fillRect/>
          </a:stretch>
        </p:blipFill>
        <p:spPr>
          <a:xfrm>
            <a:off x="354563" y="2038229"/>
            <a:ext cx="7501813" cy="3849387"/>
          </a:xfrm>
          <a:prstGeom prst="rect">
            <a:avLst/>
          </a:prstGeom>
        </p:spPr>
      </p:pic>
      <p:sp>
        <p:nvSpPr>
          <p:cNvPr id="8" name="Rectangle 7">
            <a:extLst>
              <a:ext uri="{FF2B5EF4-FFF2-40B4-BE49-F238E27FC236}">
                <a16:creationId xmlns:a16="http://schemas.microsoft.com/office/drawing/2014/main" id="{FB78A3DD-F9A5-0872-6012-01C2D0300447}"/>
              </a:ext>
            </a:extLst>
          </p:cNvPr>
          <p:cNvSpPr/>
          <p:nvPr/>
        </p:nvSpPr>
        <p:spPr>
          <a:xfrm>
            <a:off x="7707086" y="2507737"/>
            <a:ext cx="4347085" cy="262409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b="1" dirty="0"/>
              <a:t>This shows trend  of  No of Nobel prize over the years from 1901 to 2021</a:t>
            </a:r>
          </a:p>
          <a:p>
            <a:pPr algn="just">
              <a:lnSpc>
                <a:spcPct val="150000"/>
              </a:lnSpc>
            </a:pPr>
            <a:endParaRPr lang="en-US" sz="1600" b="1" dirty="0"/>
          </a:p>
          <a:p>
            <a:pPr algn="just">
              <a:lnSpc>
                <a:spcPct val="150000"/>
              </a:lnSpc>
            </a:pPr>
            <a:r>
              <a:rPr lang="en-US" sz="1600" b="1" dirty="0"/>
              <a:t>The Year 2021 has the highest number awardee between male and female.</a:t>
            </a:r>
          </a:p>
        </p:txBody>
      </p:sp>
    </p:spTree>
    <p:extLst>
      <p:ext uri="{BB962C8B-B14F-4D97-AF65-F5344CB8AC3E}">
        <p14:creationId xmlns:p14="http://schemas.microsoft.com/office/powerpoint/2010/main" val="1261997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15"/>
          <p:cNvSpPr/>
          <p:nvPr/>
        </p:nvSpPr>
        <p:spPr>
          <a:xfrm>
            <a:off x="7529513" y="380690"/>
            <a:ext cx="4266510" cy="1059254"/>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5"/>
          <p:cNvSpPr txBox="1"/>
          <p:nvPr/>
        </p:nvSpPr>
        <p:spPr>
          <a:xfrm>
            <a:off x="7509592" y="607785"/>
            <a:ext cx="42665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entury Gothic"/>
                <a:ea typeface="Century Gothic"/>
                <a:cs typeface="Century Gothic"/>
                <a:sym typeface="Century Gothic"/>
              </a:rPr>
              <a:t>OVERVIEW</a:t>
            </a:r>
            <a:endParaRPr sz="1400" b="0" i="0" u="none" strike="noStrike" cap="none" dirty="0">
              <a:solidFill>
                <a:srgbClr val="000000"/>
              </a:solidFill>
              <a:latin typeface="Arial"/>
              <a:ea typeface="Arial"/>
              <a:cs typeface="Arial"/>
              <a:sym typeface="Arial"/>
            </a:endParaRPr>
          </a:p>
        </p:txBody>
      </p:sp>
      <p:pic>
        <p:nvPicPr>
          <p:cNvPr id="127" name="Google Shape;127;p15" descr="A picture containing text, sign&#10;&#10;Description automatically generated"/>
          <p:cNvPicPr preferRelativeResize="0"/>
          <p:nvPr/>
        </p:nvPicPr>
        <p:blipFill rotWithShape="1">
          <a:blip r:embed="rId3">
            <a:alphaModFix/>
          </a:blip>
          <a:srcRect/>
          <a:stretch/>
        </p:blipFill>
        <p:spPr>
          <a:xfrm>
            <a:off x="250073" y="322902"/>
            <a:ext cx="1746237" cy="400109"/>
          </a:xfrm>
          <a:prstGeom prst="rect">
            <a:avLst/>
          </a:prstGeom>
          <a:noFill/>
          <a:ln>
            <a:noFill/>
          </a:ln>
        </p:spPr>
      </p:pic>
      <p:sp>
        <p:nvSpPr>
          <p:cNvPr id="128" name="Google Shape;128;p15"/>
          <p:cNvSpPr/>
          <p:nvPr/>
        </p:nvSpPr>
        <p:spPr>
          <a:xfrm>
            <a:off x="4387960" y="374978"/>
            <a:ext cx="549055" cy="551013"/>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4" name="Google Shape;134;p15" descr="Money with solid fill"/>
          <p:cNvPicPr preferRelativeResize="0"/>
          <p:nvPr/>
        </p:nvPicPr>
        <p:blipFill rotWithShape="1">
          <a:blip r:embed="rId4">
            <a:alphaModFix/>
          </a:blip>
          <a:srcRect/>
          <a:stretch/>
        </p:blipFill>
        <p:spPr>
          <a:xfrm>
            <a:off x="9256260" y="2316904"/>
            <a:ext cx="759203" cy="759203"/>
          </a:xfrm>
          <a:prstGeom prst="rect">
            <a:avLst/>
          </a:prstGeom>
          <a:noFill/>
          <a:ln>
            <a:noFill/>
          </a:ln>
        </p:spPr>
      </p:pic>
      <p:sp>
        <p:nvSpPr>
          <p:cNvPr id="2" name="TextBox 1">
            <a:extLst>
              <a:ext uri="{FF2B5EF4-FFF2-40B4-BE49-F238E27FC236}">
                <a16:creationId xmlns:a16="http://schemas.microsoft.com/office/drawing/2014/main" id="{86123842-8291-4451-A908-A2435D43F501}"/>
              </a:ext>
            </a:extLst>
          </p:cNvPr>
          <p:cNvSpPr txBox="1"/>
          <p:nvPr/>
        </p:nvSpPr>
        <p:spPr>
          <a:xfrm>
            <a:off x="1996310" y="1318072"/>
            <a:ext cx="5343528" cy="461665"/>
          </a:xfrm>
          <a:prstGeom prst="rect">
            <a:avLst/>
          </a:prstGeom>
          <a:noFill/>
        </p:spPr>
        <p:txBody>
          <a:bodyPr wrap="square" rtlCol="0">
            <a:spAutoFit/>
          </a:bodyPr>
          <a:lstStyle/>
          <a:p>
            <a:pPr algn="ctr"/>
            <a:r>
              <a:rPr lang="en-GB" sz="2400" b="1" dirty="0"/>
              <a:t>NOBEL PRIZE REPORT</a:t>
            </a:r>
          </a:p>
        </p:txBody>
      </p:sp>
      <p:pic>
        <p:nvPicPr>
          <p:cNvPr id="14" name="Picture 13">
            <a:extLst>
              <a:ext uri="{FF2B5EF4-FFF2-40B4-BE49-F238E27FC236}">
                <a16:creationId xmlns:a16="http://schemas.microsoft.com/office/drawing/2014/main" id="{6AC1DD38-E52B-412B-8891-E25B07A6C29A}"/>
              </a:ext>
            </a:extLst>
          </p:cNvPr>
          <p:cNvPicPr>
            <a:picLocks noChangeAspect="1"/>
          </p:cNvPicPr>
          <p:nvPr/>
        </p:nvPicPr>
        <p:blipFill>
          <a:blip r:embed="rId5"/>
          <a:stretch>
            <a:fillRect/>
          </a:stretch>
        </p:blipFill>
        <p:spPr>
          <a:xfrm>
            <a:off x="10864260" y="5737728"/>
            <a:ext cx="1099470" cy="1037200"/>
          </a:xfrm>
          <a:prstGeom prst="rect">
            <a:avLst/>
          </a:prstGeom>
        </p:spPr>
      </p:pic>
      <p:sp>
        <p:nvSpPr>
          <p:cNvPr id="8" name="Rectangle 7">
            <a:extLst>
              <a:ext uri="{FF2B5EF4-FFF2-40B4-BE49-F238E27FC236}">
                <a16:creationId xmlns:a16="http://schemas.microsoft.com/office/drawing/2014/main" id="{FB78A3DD-F9A5-0872-6012-01C2D0300447}"/>
              </a:ext>
            </a:extLst>
          </p:cNvPr>
          <p:cNvSpPr/>
          <p:nvPr/>
        </p:nvSpPr>
        <p:spPr>
          <a:xfrm>
            <a:off x="7339839" y="2696505"/>
            <a:ext cx="4623892" cy="262409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200000"/>
              </a:lnSpc>
            </a:pPr>
            <a:r>
              <a:rPr lang="en-US" sz="1600" b="1" dirty="0"/>
              <a:t>This Bar Chart show the number of Laureate awardee by Top 5 Countries by Birth.</a:t>
            </a:r>
          </a:p>
          <a:p>
            <a:pPr algn="just">
              <a:lnSpc>
                <a:spcPct val="200000"/>
              </a:lnSpc>
            </a:pPr>
            <a:r>
              <a:rPr lang="en-US" sz="1600" b="1" dirty="0"/>
              <a:t>United State of America has the highest number of Laureate.</a:t>
            </a:r>
          </a:p>
        </p:txBody>
      </p:sp>
      <p:pic>
        <p:nvPicPr>
          <p:cNvPr id="4" name="Picture 3">
            <a:extLst>
              <a:ext uri="{FF2B5EF4-FFF2-40B4-BE49-F238E27FC236}">
                <a16:creationId xmlns:a16="http://schemas.microsoft.com/office/drawing/2014/main" id="{21BE831C-FE3E-FCF8-BF5A-5C21A1975AC3}"/>
              </a:ext>
            </a:extLst>
          </p:cNvPr>
          <p:cNvPicPr>
            <a:picLocks noChangeAspect="1"/>
          </p:cNvPicPr>
          <p:nvPr/>
        </p:nvPicPr>
        <p:blipFill>
          <a:blip r:embed="rId6"/>
          <a:stretch>
            <a:fillRect/>
          </a:stretch>
        </p:blipFill>
        <p:spPr>
          <a:xfrm>
            <a:off x="96144" y="2092570"/>
            <a:ext cx="7298669" cy="3831968"/>
          </a:xfrm>
          <a:prstGeom prst="rect">
            <a:avLst/>
          </a:prstGeom>
        </p:spPr>
      </p:pic>
    </p:spTree>
    <p:extLst>
      <p:ext uri="{BB962C8B-B14F-4D97-AF65-F5344CB8AC3E}">
        <p14:creationId xmlns:p14="http://schemas.microsoft.com/office/powerpoint/2010/main" val="1047574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15"/>
          <p:cNvSpPr/>
          <p:nvPr/>
        </p:nvSpPr>
        <p:spPr>
          <a:xfrm>
            <a:off x="7529513" y="380690"/>
            <a:ext cx="4266510" cy="1059254"/>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5"/>
          <p:cNvSpPr txBox="1"/>
          <p:nvPr/>
        </p:nvSpPr>
        <p:spPr>
          <a:xfrm>
            <a:off x="7509592" y="607785"/>
            <a:ext cx="42665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entury Gothic"/>
                <a:ea typeface="Century Gothic"/>
                <a:cs typeface="Century Gothic"/>
                <a:sym typeface="Century Gothic"/>
              </a:rPr>
              <a:t>OVERVIEW</a:t>
            </a:r>
            <a:endParaRPr sz="1400" b="0" i="0" u="none" strike="noStrike" cap="none" dirty="0">
              <a:solidFill>
                <a:srgbClr val="000000"/>
              </a:solidFill>
              <a:latin typeface="Arial"/>
              <a:ea typeface="Arial"/>
              <a:cs typeface="Arial"/>
              <a:sym typeface="Arial"/>
            </a:endParaRPr>
          </a:p>
        </p:txBody>
      </p:sp>
      <p:pic>
        <p:nvPicPr>
          <p:cNvPr id="127" name="Google Shape;127;p15" descr="A picture containing text, sign&#10;&#10;Description automatically generated"/>
          <p:cNvPicPr preferRelativeResize="0"/>
          <p:nvPr/>
        </p:nvPicPr>
        <p:blipFill rotWithShape="1">
          <a:blip r:embed="rId3">
            <a:alphaModFix/>
          </a:blip>
          <a:srcRect/>
          <a:stretch/>
        </p:blipFill>
        <p:spPr>
          <a:xfrm>
            <a:off x="250073" y="322902"/>
            <a:ext cx="1746237" cy="400109"/>
          </a:xfrm>
          <a:prstGeom prst="rect">
            <a:avLst/>
          </a:prstGeom>
          <a:noFill/>
          <a:ln>
            <a:noFill/>
          </a:ln>
        </p:spPr>
      </p:pic>
      <p:sp>
        <p:nvSpPr>
          <p:cNvPr id="128" name="Google Shape;128;p15"/>
          <p:cNvSpPr/>
          <p:nvPr/>
        </p:nvSpPr>
        <p:spPr>
          <a:xfrm>
            <a:off x="4387960" y="374978"/>
            <a:ext cx="549055" cy="551013"/>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4" name="Google Shape;134;p15" descr="Money with solid fill"/>
          <p:cNvPicPr preferRelativeResize="0"/>
          <p:nvPr/>
        </p:nvPicPr>
        <p:blipFill rotWithShape="1">
          <a:blip r:embed="rId4">
            <a:alphaModFix/>
          </a:blip>
          <a:srcRect/>
          <a:stretch/>
        </p:blipFill>
        <p:spPr>
          <a:xfrm>
            <a:off x="9256260" y="2316904"/>
            <a:ext cx="759203" cy="759203"/>
          </a:xfrm>
          <a:prstGeom prst="rect">
            <a:avLst/>
          </a:prstGeom>
          <a:noFill/>
          <a:ln>
            <a:noFill/>
          </a:ln>
        </p:spPr>
      </p:pic>
      <p:sp>
        <p:nvSpPr>
          <p:cNvPr id="2" name="TextBox 1">
            <a:extLst>
              <a:ext uri="{FF2B5EF4-FFF2-40B4-BE49-F238E27FC236}">
                <a16:creationId xmlns:a16="http://schemas.microsoft.com/office/drawing/2014/main" id="{86123842-8291-4451-A908-A2435D43F501}"/>
              </a:ext>
            </a:extLst>
          </p:cNvPr>
          <p:cNvSpPr txBox="1"/>
          <p:nvPr/>
        </p:nvSpPr>
        <p:spPr>
          <a:xfrm>
            <a:off x="1996310" y="1318072"/>
            <a:ext cx="5343528" cy="461665"/>
          </a:xfrm>
          <a:prstGeom prst="rect">
            <a:avLst/>
          </a:prstGeom>
          <a:noFill/>
        </p:spPr>
        <p:txBody>
          <a:bodyPr wrap="square" rtlCol="0">
            <a:spAutoFit/>
          </a:bodyPr>
          <a:lstStyle/>
          <a:p>
            <a:pPr algn="ctr"/>
            <a:r>
              <a:rPr lang="en-GB" sz="2400" b="1" dirty="0"/>
              <a:t>NOBEL PRIZE REPORT</a:t>
            </a:r>
          </a:p>
        </p:txBody>
      </p:sp>
      <p:pic>
        <p:nvPicPr>
          <p:cNvPr id="14" name="Picture 13">
            <a:extLst>
              <a:ext uri="{FF2B5EF4-FFF2-40B4-BE49-F238E27FC236}">
                <a16:creationId xmlns:a16="http://schemas.microsoft.com/office/drawing/2014/main" id="{6AC1DD38-E52B-412B-8891-E25B07A6C29A}"/>
              </a:ext>
            </a:extLst>
          </p:cNvPr>
          <p:cNvPicPr>
            <a:picLocks noChangeAspect="1"/>
          </p:cNvPicPr>
          <p:nvPr/>
        </p:nvPicPr>
        <p:blipFill>
          <a:blip r:embed="rId5"/>
          <a:stretch>
            <a:fillRect/>
          </a:stretch>
        </p:blipFill>
        <p:spPr>
          <a:xfrm>
            <a:off x="10864260" y="5737728"/>
            <a:ext cx="1099470" cy="1037200"/>
          </a:xfrm>
          <a:prstGeom prst="rect">
            <a:avLst/>
          </a:prstGeom>
        </p:spPr>
      </p:pic>
      <p:sp>
        <p:nvSpPr>
          <p:cNvPr id="8" name="Rectangle 7">
            <a:extLst>
              <a:ext uri="{FF2B5EF4-FFF2-40B4-BE49-F238E27FC236}">
                <a16:creationId xmlns:a16="http://schemas.microsoft.com/office/drawing/2014/main" id="{FB78A3DD-F9A5-0872-6012-01C2D0300447}"/>
              </a:ext>
            </a:extLst>
          </p:cNvPr>
          <p:cNvSpPr/>
          <p:nvPr/>
        </p:nvSpPr>
        <p:spPr>
          <a:xfrm>
            <a:off x="7193903" y="2696505"/>
            <a:ext cx="4769828" cy="262409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200000"/>
              </a:lnSpc>
            </a:pPr>
            <a:r>
              <a:rPr lang="en-US" sz="1600" b="1" dirty="0"/>
              <a:t>This Bar Chart shows the Top 5 University by number of Laureates awarded.</a:t>
            </a:r>
          </a:p>
          <a:p>
            <a:pPr algn="just">
              <a:lnSpc>
                <a:spcPct val="200000"/>
              </a:lnSpc>
            </a:pPr>
            <a:r>
              <a:rPr lang="en-US" sz="1600" b="1" dirty="0"/>
              <a:t>University of California has the highest number of  Laureates.</a:t>
            </a:r>
          </a:p>
        </p:txBody>
      </p:sp>
      <p:pic>
        <p:nvPicPr>
          <p:cNvPr id="5" name="Picture 4">
            <a:extLst>
              <a:ext uri="{FF2B5EF4-FFF2-40B4-BE49-F238E27FC236}">
                <a16:creationId xmlns:a16="http://schemas.microsoft.com/office/drawing/2014/main" id="{2B4983E1-CE8E-AD14-47C3-C4D553D960E5}"/>
              </a:ext>
            </a:extLst>
          </p:cNvPr>
          <p:cNvPicPr>
            <a:picLocks noChangeAspect="1"/>
          </p:cNvPicPr>
          <p:nvPr/>
        </p:nvPicPr>
        <p:blipFill>
          <a:blip r:embed="rId6"/>
          <a:stretch>
            <a:fillRect/>
          </a:stretch>
        </p:blipFill>
        <p:spPr>
          <a:xfrm>
            <a:off x="335903" y="2171818"/>
            <a:ext cx="6316824" cy="3491864"/>
          </a:xfrm>
          <a:prstGeom prst="rect">
            <a:avLst/>
          </a:prstGeom>
        </p:spPr>
      </p:pic>
    </p:spTree>
    <p:extLst>
      <p:ext uri="{BB962C8B-B14F-4D97-AF65-F5344CB8AC3E}">
        <p14:creationId xmlns:p14="http://schemas.microsoft.com/office/powerpoint/2010/main" val="557748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15"/>
          <p:cNvSpPr/>
          <p:nvPr/>
        </p:nvSpPr>
        <p:spPr>
          <a:xfrm>
            <a:off x="7529513" y="380690"/>
            <a:ext cx="4266510" cy="1059254"/>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5"/>
          <p:cNvSpPr txBox="1"/>
          <p:nvPr/>
        </p:nvSpPr>
        <p:spPr>
          <a:xfrm>
            <a:off x="7509592" y="607785"/>
            <a:ext cx="42665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entury Gothic"/>
                <a:ea typeface="Century Gothic"/>
                <a:cs typeface="Century Gothic"/>
                <a:sym typeface="Century Gothic"/>
              </a:rPr>
              <a:t>OVERVIEW</a:t>
            </a:r>
            <a:endParaRPr sz="1400" b="0" i="0" u="none" strike="noStrike" cap="none" dirty="0">
              <a:solidFill>
                <a:srgbClr val="000000"/>
              </a:solidFill>
              <a:latin typeface="Arial"/>
              <a:ea typeface="Arial"/>
              <a:cs typeface="Arial"/>
              <a:sym typeface="Arial"/>
            </a:endParaRPr>
          </a:p>
        </p:txBody>
      </p:sp>
      <p:pic>
        <p:nvPicPr>
          <p:cNvPr id="127" name="Google Shape;127;p15" descr="A picture containing text, sign&#10;&#10;Description automatically generated"/>
          <p:cNvPicPr preferRelativeResize="0"/>
          <p:nvPr/>
        </p:nvPicPr>
        <p:blipFill rotWithShape="1">
          <a:blip r:embed="rId3">
            <a:alphaModFix/>
          </a:blip>
          <a:srcRect/>
          <a:stretch/>
        </p:blipFill>
        <p:spPr>
          <a:xfrm>
            <a:off x="250073" y="322902"/>
            <a:ext cx="1746237" cy="400109"/>
          </a:xfrm>
          <a:prstGeom prst="rect">
            <a:avLst/>
          </a:prstGeom>
          <a:noFill/>
          <a:ln>
            <a:noFill/>
          </a:ln>
        </p:spPr>
      </p:pic>
      <p:sp>
        <p:nvSpPr>
          <p:cNvPr id="128" name="Google Shape;128;p15"/>
          <p:cNvSpPr/>
          <p:nvPr/>
        </p:nvSpPr>
        <p:spPr>
          <a:xfrm>
            <a:off x="4387960" y="374978"/>
            <a:ext cx="549055" cy="551013"/>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4" name="Google Shape;134;p15" descr="Money with solid fill"/>
          <p:cNvPicPr preferRelativeResize="0"/>
          <p:nvPr/>
        </p:nvPicPr>
        <p:blipFill rotWithShape="1">
          <a:blip r:embed="rId4">
            <a:alphaModFix/>
          </a:blip>
          <a:srcRect/>
          <a:stretch/>
        </p:blipFill>
        <p:spPr>
          <a:xfrm>
            <a:off x="9256260" y="2316904"/>
            <a:ext cx="759203" cy="759203"/>
          </a:xfrm>
          <a:prstGeom prst="rect">
            <a:avLst/>
          </a:prstGeom>
          <a:noFill/>
          <a:ln>
            <a:noFill/>
          </a:ln>
        </p:spPr>
      </p:pic>
      <p:sp>
        <p:nvSpPr>
          <p:cNvPr id="2" name="TextBox 1">
            <a:extLst>
              <a:ext uri="{FF2B5EF4-FFF2-40B4-BE49-F238E27FC236}">
                <a16:creationId xmlns:a16="http://schemas.microsoft.com/office/drawing/2014/main" id="{86123842-8291-4451-A908-A2435D43F501}"/>
              </a:ext>
            </a:extLst>
          </p:cNvPr>
          <p:cNvSpPr txBox="1"/>
          <p:nvPr/>
        </p:nvSpPr>
        <p:spPr>
          <a:xfrm>
            <a:off x="1996310" y="1318072"/>
            <a:ext cx="5343528" cy="461665"/>
          </a:xfrm>
          <a:prstGeom prst="rect">
            <a:avLst/>
          </a:prstGeom>
          <a:noFill/>
        </p:spPr>
        <p:txBody>
          <a:bodyPr wrap="square" rtlCol="0">
            <a:spAutoFit/>
          </a:bodyPr>
          <a:lstStyle/>
          <a:p>
            <a:pPr algn="ctr"/>
            <a:r>
              <a:rPr lang="en-GB" sz="2400" b="1" dirty="0"/>
              <a:t>CONCLUSION</a:t>
            </a:r>
          </a:p>
        </p:txBody>
      </p:sp>
      <p:pic>
        <p:nvPicPr>
          <p:cNvPr id="14" name="Picture 13">
            <a:extLst>
              <a:ext uri="{FF2B5EF4-FFF2-40B4-BE49-F238E27FC236}">
                <a16:creationId xmlns:a16="http://schemas.microsoft.com/office/drawing/2014/main" id="{6AC1DD38-E52B-412B-8891-E25B07A6C29A}"/>
              </a:ext>
            </a:extLst>
          </p:cNvPr>
          <p:cNvPicPr>
            <a:picLocks noChangeAspect="1"/>
          </p:cNvPicPr>
          <p:nvPr/>
        </p:nvPicPr>
        <p:blipFill>
          <a:blip r:embed="rId5"/>
          <a:stretch>
            <a:fillRect/>
          </a:stretch>
        </p:blipFill>
        <p:spPr>
          <a:xfrm>
            <a:off x="10864260" y="5737728"/>
            <a:ext cx="1099470" cy="1037200"/>
          </a:xfrm>
          <a:prstGeom prst="rect">
            <a:avLst/>
          </a:prstGeom>
        </p:spPr>
      </p:pic>
      <p:sp>
        <p:nvSpPr>
          <p:cNvPr id="3" name="Rectangle 2">
            <a:extLst>
              <a:ext uri="{FF2B5EF4-FFF2-40B4-BE49-F238E27FC236}">
                <a16:creationId xmlns:a16="http://schemas.microsoft.com/office/drawing/2014/main" id="{A02704D2-9333-D6A5-342E-B2C64960C632}"/>
              </a:ext>
            </a:extLst>
          </p:cNvPr>
          <p:cNvSpPr/>
          <p:nvPr/>
        </p:nvSpPr>
        <p:spPr>
          <a:xfrm>
            <a:off x="634481" y="2316904"/>
            <a:ext cx="10478277" cy="35427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b="1" dirty="0"/>
              <a:t>The Nobel Prize embodies the spirit of human ingenuity celebrating visionaries  who shape our world, As reflect on the achievement of Nobel Laureates, we are reminded of the power of innovation, compassion, and dedication to create a brighter future for all.</a:t>
            </a:r>
          </a:p>
          <a:p>
            <a:pPr algn="just">
              <a:lnSpc>
                <a:spcPct val="150000"/>
              </a:lnSpc>
            </a:pPr>
            <a:endParaRPr lang="en-US" b="1" dirty="0"/>
          </a:p>
          <a:p>
            <a:pPr algn="just">
              <a:lnSpc>
                <a:spcPct val="150000"/>
              </a:lnSpc>
            </a:pPr>
            <a:r>
              <a:rPr lang="en-US" b="1" dirty="0"/>
              <a:t>The Nobel Prize impact and legacy must be preserved by</a:t>
            </a:r>
          </a:p>
          <a:p>
            <a:pPr marL="285750" indent="-285750" algn="just">
              <a:lnSpc>
                <a:spcPct val="150000"/>
              </a:lnSpc>
              <a:buFont typeface="Arial" panose="020B0604020202020204" pitchFamily="34" charset="0"/>
              <a:buChar char="•"/>
            </a:pPr>
            <a:r>
              <a:rPr lang="en-US" b="1" dirty="0"/>
              <a:t>Promoting  peace and conflict resolution.</a:t>
            </a:r>
          </a:p>
          <a:p>
            <a:pPr marL="285750" indent="-285750" algn="just">
              <a:lnSpc>
                <a:spcPct val="150000"/>
              </a:lnSpc>
              <a:buFont typeface="Arial" panose="020B0604020202020204" pitchFamily="34" charset="0"/>
              <a:buChar char="•"/>
            </a:pPr>
            <a:r>
              <a:rPr lang="en-US" b="1" dirty="0"/>
              <a:t>Encouraging innovative research and discovery.</a:t>
            </a:r>
          </a:p>
          <a:p>
            <a:pPr marL="285750" indent="-285750" algn="just">
              <a:lnSpc>
                <a:spcPct val="150000"/>
              </a:lnSpc>
              <a:buFont typeface="Arial" panose="020B0604020202020204" pitchFamily="34" charset="0"/>
              <a:buChar char="•"/>
            </a:pPr>
            <a:r>
              <a:rPr lang="en-US" b="1" dirty="0"/>
              <a:t>Fostering global cooperation and collaboration.</a:t>
            </a:r>
          </a:p>
          <a:p>
            <a:pPr marL="285750" indent="-285750" algn="just">
              <a:lnSpc>
                <a:spcPct val="150000"/>
              </a:lnSpc>
              <a:buFont typeface="Arial" panose="020B0604020202020204" pitchFamily="34" charset="0"/>
              <a:buChar char="•"/>
            </a:pPr>
            <a:r>
              <a:rPr lang="en-US" b="1" dirty="0"/>
              <a:t>Inspiring future generation of leaders and change-makers.</a:t>
            </a:r>
          </a:p>
          <a:p>
            <a:pPr marL="285750" indent="-285750" algn="just">
              <a:lnSpc>
                <a:spcPct val="150000"/>
              </a:lnSpc>
              <a:buFont typeface="Arial" panose="020B0604020202020204" pitchFamily="34" charset="0"/>
              <a:buChar char="•"/>
            </a:pPr>
            <a:r>
              <a:rPr lang="en-US" b="1" dirty="0"/>
              <a:t>Recognizing human achievement , driving progress and excellence.</a:t>
            </a:r>
          </a:p>
        </p:txBody>
      </p:sp>
    </p:spTree>
    <p:extLst>
      <p:ext uri="{BB962C8B-B14F-4D97-AF65-F5344CB8AC3E}">
        <p14:creationId xmlns:p14="http://schemas.microsoft.com/office/powerpoint/2010/main" val="1008786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15"/>
          <p:cNvSpPr/>
          <p:nvPr/>
        </p:nvSpPr>
        <p:spPr>
          <a:xfrm>
            <a:off x="7529513" y="380690"/>
            <a:ext cx="4266510" cy="1059254"/>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5"/>
          <p:cNvSpPr txBox="1"/>
          <p:nvPr/>
        </p:nvSpPr>
        <p:spPr>
          <a:xfrm>
            <a:off x="7509592" y="607785"/>
            <a:ext cx="42665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entury Gothic"/>
                <a:ea typeface="Century Gothic"/>
                <a:cs typeface="Century Gothic"/>
                <a:sym typeface="Century Gothic"/>
              </a:rPr>
              <a:t>OVERVIEW</a:t>
            </a:r>
            <a:endParaRPr sz="1400" b="0" i="0" u="none" strike="noStrike" cap="none" dirty="0">
              <a:solidFill>
                <a:srgbClr val="000000"/>
              </a:solidFill>
              <a:latin typeface="Arial"/>
              <a:ea typeface="Arial"/>
              <a:cs typeface="Arial"/>
              <a:sym typeface="Arial"/>
            </a:endParaRPr>
          </a:p>
        </p:txBody>
      </p:sp>
      <p:pic>
        <p:nvPicPr>
          <p:cNvPr id="127" name="Google Shape;127;p15" descr="A picture containing text, sign&#10;&#10;Description automatically generated"/>
          <p:cNvPicPr preferRelativeResize="0"/>
          <p:nvPr/>
        </p:nvPicPr>
        <p:blipFill rotWithShape="1">
          <a:blip r:embed="rId3">
            <a:alphaModFix/>
          </a:blip>
          <a:srcRect/>
          <a:stretch/>
        </p:blipFill>
        <p:spPr>
          <a:xfrm>
            <a:off x="250073" y="322902"/>
            <a:ext cx="1746237" cy="400109"/>
          </a:xfrm>
          <a:prstGeom prst="rect">
            <a:avLst/>
          </a:prstGeom>
          <a:noFill/>
          <a:ln>
            <a:noFill/>
          </a:ln>
        </p:spPr>
      </p:pic>
      <p:sp>
        <p:nvSpPr>
          <p:cNvPr id="128" name="Google Shape;128;p15"/>
          <p:cNvSpPr/>
          <p:nvPr/>
        </p:nvSpPr>
        <p:spPr>
          <a:xfrm>
            <a:off x="4387960" y="374978"/>
            <a:ext cx="549055" cy="551013"/>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4" name="Google Shape;134;p15" descr="Money with solid fill"/>
          <p:cNvPicPr preferRelativeResize="0"/>
          <p:nvPr/>
        </p:nvPicPr>
        <p:blipFill rotWithShape="1">
          <a:blip r:embed="rId4">
            <a:alphaModFix/>
          </a:blip>
          <a:srcRect/>
          <a:stretch/>
        </p:blipFill>
        <p:spPr>
          <a:xfrm>
            <a:off x="9256260" y="2316904"/>
            <a:ext cx="759203" cy="759203"/>
          </a:xfrm>
          <a:prstGeom prst="rect">
            <a:avLst/>
          </a:prstGeom>
          <a:noFill/>
          <a:ln>
            <a:noFill/>
          </a:ln>
        </p:spPr>
      </p:pic>
      <p:sp>
        <p:nvSpPr>
          <p:cNvPr id="2" name="TextBox 1">
            <a:extLst>
              <a:ext uri="{FF2B5EF4-FFF2-40B4-BE49-F238E27FC236}">
                <a16:creationId xmlns:a16="http://schemas.microsoft.com/office/drawing/2014/main" id="{86123842-8291-4451-A908-A2435D43F501}"/>
              </a:ext>
            </a:extLst>
          </p:cNvPr>
          <p:cNvSpPr txBox="1"/>
          <p:nvPr/>
        </p:nvSpPr>
        <p:spPr>
          <a:xfrm>
            <a:off x="1716196" y="1343994"/>
            <a:ext cx="5343528" cy="461665"/>
          </a:xfrm>
          <a:prstGeom prst="rect">
            <a:avLst/>
          </a:prstGeom>
          <a:noFill/>
        </p:spPr>
        <p:txBody>
          <a:bodyPr wrap="square" rtlCol="0">
            <a:spAutoFit/>
          </a:bodyPr>
          <a:lstStyle/>
          <a:p>
            <a:pPr algn="ctr"/>
            <a:r>
              <a:rPr lang="en-GB" sz="2400" b="1" dirty="0"/>
              <a:t>SUMMARY </a:t>
            </a:r>
          </a:p>
        </p:txBody>
      </p:sp>
      <p:pic>
        <p:nvPicPr>
          <p:cNvPr id="14" name="Picture 13">
            <a:extLst>
              <a:ext uri="{FF2B5EF4-FFF2-40B4-BE49-F238E27FC236}">
                <a16:creationId xmlns:a16="http://schemas.microsoft.com/office/drawing/2014/main" id="{6AC1DD38-E52B-412B-8891-E25B07A6C29A}"/>
              </a:ext>
            </a:extLst>
          </p:cNvPr>
          <p:cNvPicPr>
            <a:picLocks noChangeAspect="1"/>
          </p:cNvPicPr>
          <p:nvPr/>
        </p:nvPicPr>
        <p:blipFill>
          <a:blip r:embed="rId5"/>
          <a:stretch>
            <a:fillRect/>
          </a:stretch>
        </p:blipFill>
        <p:spPr>
          <a:xfrm>
            <a:off x="10864260" y="5737728"/>
            <a:ext cx="1099470" cy="1037200"/>
          </a:xfrm>
          <a:prstGeom prst="rect">
            <a:avLst/>
          </a:prstGeom>
        </p:spPr>
      </p:pic>
      <p:pic>
        <p:nvPicPr>
          <p:cNvPr id="5" name="Picture 4">
            <a:extLst>
              <a:ext uri="{FF2B5EF4-FFF2-40B4-BE49-F238E27FC236}">
                <a16:creationId xmlns:a16="http://schemas.microsoft.com/office/drawing/2014/main" id="{7C9179CF-E35C-12A6-8C76-EE332F24FF0C}"/>
              </a:ext>
            </a:extLst>
          </p:cNvPr>
          <p:cNvPicPr>
            <a:picLocks noChangeAspect="1"/>
          </p:cNvPicPr>
          <p:nvPr/>
        </p:nvPicPr>
        <p:blipFill>
          <a:blip r:embed="rId6"/>
          <a:stretch>
            <a:fillRect/>
          </a:stretch>
        </p:blipFill>
        <p:spPr>
          <a:xfrm>
            <a:off x="395977" y="222507"/>
            <a:ext cx="11299371" cy="6027708"/>
          </a:xfrm>
          <a:prstGeom prst="rect">
            <a:avLst/>
          </a:prstGeom>
        </p:spPr>
      </p:pic>
    </p:spTree>
    <p:extLst>
      <p:ext uri="{BB962C8B-B14F-4D97-AF65-F5344CB8AC3E}">
        <p14:creationId xmlns:p14="http://schemas.microsoft.com/office/powerpoint/2010/main" val="4261355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15"/>
          <p:cNvSpPr/>
          <p:nvPr/>
        </p:nvSpPr>
        <p:spPr>
          <a:xfrm>
            <a:off x="7529513" y="380690"/>
            <a:ext cx="4266510" cy="1059254"/>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5"/>
          <p:cNvSpPr txBox="1"/>
          <p:nvPr/>
        </p:nvSpPr>
        <p:spPr>
          <a:xfrm>
            <a:off x="7509592" y="607785"/>
            <a:ext cx="426651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entury Gothic"/>
                <a:ea typeface="Century Gothic"/>
                <a:cs typeface="Century Gothic"/>
                <a:sym typeface="Century Gothic"/>
              </a:rPr>
              <a:t>OVERVIEW</a:t>
            </a:r>
            <a:endParaRPr sz="1400" b="0" i="0" u="none" strike="noStrike" cap="none" dirty="0">
              <a:solidFill>
                <a:srgbClr val="000000"/>
              </a:solidFill>
              <a:latin typeface="Arial"/>
              <a:ea typeface="Arial"/>
              <a:cs typeface="Arial"/>
              <a:sym typeface="Arial"/>
            </a:endParaRPr>
          </a:p>
        </p:txBody>
      </p:sp>
      <p:pic>
        <p:nvPicPr>
          <p:cNvPr id="127" name="Google Shape;127;p15" descr="A picture containing text, sign&#10;&#10;Description automatically generated"/>
          <p:cNvPicPr preferRelativeResize="0"/>
          <p:nvPr/>
        </p:nvPicPr>
        <p:blipFill rotWithShape="1">
          <a:blip r:embed="rId3">
            <a:alphaModFix/>
          </a:blip>
          <a:srcRect/>
          <a:stretch/>
        </p:blipFill>
        <p:spPr>
          <a:xfrm>
            <a:off x="250073" y="322902"/>
            <a:ext cx="1746237" cy="400109"/>
          </a:xfrm>
          <a:prstGeom prst="rect">
            <a:avLst/>
          </a:prstGeom>
          <a:noFill/>
          <a:ln>
            <a:noFill/>
          </a:ln>
        </p:spPr>
      </p:pic>
      <p:sp>
        <p:nvSpPr>
          <p:cNvPr id="128" name="Google Shape;128;p15"/>
          <p:cNvSpPr/>
          <p:nvPr/>
        </p:nvSpPr>
        <p:spPr>
          <a:xfrm>
            <a:off x="4817907" y="411773"/>
            <a:ext cx="549055" cy="348033"/>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4" name="Google Shape;134;p15" descr="Money with solid fill"/>
          <p:cNvPicPr preferRelativeResize="0"/>
          <p:nvPr/>
        </p:nvPicPr>
        <p:blipFill rotWithShape="1">
          <a:blip r:embed="rId4">
            <a:alphaModFix/>
          </a:blip>
          <a:srcRect/>
          <a:stretch/>
        </p:blipFill>
        <p:spPr>
          <a:xfrm>
            <a:off x="9256260" y="2316904"/>
            <a:ext cx="759203" cy="759203"/>
          </a:xfrm>
          <a:prstGeom prst="rect">
            <a:avLst/>
          </a:prstGeom>
          <a:noFill/>
          <a:ln>
            <a:noFill/>
          </a:ln>
        </p:spPr>
      </p:pic>
      <p:sp>
        <p:nvSpPr>
          <p:cNvPr id="2" name="TextBox 1">
            <a:extLst>
              <a:ext uri="{FF2B5EF4-FFF2-40B4-BE49-F238E27FC236}">
                <a16:creationId xmlns:a16="http://schemas.microsoft.com/office/drawing/2014/main" id="{86123842-8291-4451-A908-A2435D43F501}"/>
              </a:ext>
            </a:extLst>
          </p:cNvPr>
          <p:cNvSpPr txBox="1"/>
          <p:nvPr/>
        </p:nvSpPr>
        <p:spPr>
          <a:xfrm>
            <a:off x="2146143" y="1094803"/>
            <a:ext cx="5343528" cy="461665"/>
          </a:xfrm>
          <a:prstGeom prst="rect">
            <a:avLst/>
          </a:prstGeom>
          <a:noFill/>
        </p:spPr>
        <p:txBody>
          <a:bodyPr wrap="square" rtlCol="0">
            <a:spAutoFit/>
          </a:bodyPr>
          <a:lstStyle/>
          <a:p>
            <a:pPr algn="ctr"/>
            <a:r>
              <a:rPr lang="en-GB" sz="2400" b="1" dirty="0"/>
              <a:t>SUMMARY</a:t>
            </a:r>
          </a:p>
        </p:txBody>
      </p:sp>
      <p:pic>
        <p:nvPicPr>
          <p:cNvPr id="14" name="Picture 13">
            <a:extLst>
              <a:ext uri="{FF2B5EF4-FFF2-40B4-BE49-F238E27FC236}">
                <a16:creationId xmlns:a16="http://schemas.microsoft.com/office/drawing/2014/main" id="{6AC1DD38-E52B-412B-8891-E25B07A6C29A}"/>
              </a:ext>
            </a:extLst>
          </p:cNvPr>
          <p:cNvPicPr>
            <a:picLocks noChangeAspect="1"/>
          </p:cNvPicPr>
          <p:nvPr/>
        </p:nvPicPr>
        <p:blipFill>
          <a:blip r:embed="rId5"/>
          <a:stretch>
            <a:fillRect/>
          </a:stretch>
        </p:blipFill>
        <p:spPr>
          <a:xfrm>
            <a:off x="10864260" y="5737728"/>
            <a:ext cx="1099470" cy="1037200"/>
          </a:xfrm>
          <a:prstGeom prst="rect">
            <a:avLst/>
          </a:prstGeom>
        </p:spPr>
      </p:pic>
      <p:pic>
        <p:nvPicPr>
          <p:cNvPr id="4" name="Picture 3">
            <a:extLst>
              <a:ext uri="{FF2B5EF4-FFF2-40B4-BE49-F238E27FC236}">
                <a16:creationId xmlns:a16="http://schemas.microsoft.com/office/drawing/2014/main" id="{7C84291D-3A77-4161-230E-5FC7EF2EDD79}"/>
              </a:ext>
            </a:extLst>
          </p:cNvPr>
          <p:cNvPicPr>
            <a:picLocks noChangeAspect="1"/>
          </p:cNvPicPr>
          <p:nvPr/>
        </p:nvPicPr>
        <p:blipFill>
          <a:blip r:embed="rId6"/>
          <a:stretch>
            <a:fillRect/>
          </a:stretch>
        </p:blipFill>
        <p:spPr>
          <a:xfrm>
            <a:off x="650468" y="1596252"/>
            <a:ext cx="10213791" cy="5097611"/>
          </a:xfrm>
          <a:prstGeom prst="rect">
            <a:avLst/>
          </a:prstGeom>
        </p:spPr>
      </p:pic>
    </p:spTree>
    <p:extLst>
      <p:ext uri="{BB962C8B-B14F-4D97-AF65-F5344CB8AC3E}">
        <p14:creationId xmlns:p14="http://schemas.microsoft.com/office/powerpoint/2010/main" val="2039494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9"/>
          <p:cNvSpPr/>
          <p:nvPr/>
        </p:nvSpPr>
        <p:spPr>
          <a:xfrm>
            <a:off x="5997316" y="-396005"/>
            <a:ext cx="8375689" cy="7650009"/>
          </a:xfrm>
          <a:prstGeom prst="hexagon">
            <a:avLst>
              <a:gd name="adj" fmla="val 25000"/>
              <a:gd name="vf" fmla="val 115470"/>
            </a:avLst>
          </a:prstGeom>
          <a:solidFill>
            <a:srgbClr val="03268F"/>
          </a:solidFill>
          <a:ln w="635000" cap="rnd" cmpd="sng">
            <a:solidFill>
              <a:srgbClr val="0326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2" name="Google Shape;302;p29"/>
          <p:cNvSpPr/>
          <p:nvPr/>
        </p:nvSpPr>
        <p:spPr>
          <a:xfrm>
            <a:off x="7256010" y="817894"/>
            <a:ext cx="6768041" cy="5248486"/>
          </a:xfrm>
          <a:prstGeom prst="hexagon">
            <a:avLst>
              <a:gd name="adj" fmla="val 25000"/>
              <a:gd name="vf" fmla="val 115470"/>
            </a:avLst>
          </a:prstGeom>
          <a:blipFill rotWithShape="1">
            <a:blip r:embed="rId3">
              <a:alphaModFix/>
            </a:blip>
            <a:stretch>
              <a:fillRect/>
            </a:stretch>
          </a:blipFill>
          <a:ln w="19050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3" name="Google Shape;303;p29"/>
          <p:cNvSpPr/>
          <p:nvPr/>
        </p:nvSpPr>
        <p:spPr>
          <a:xfrm>
            <a:off x="805429" y="2285181"/>
            <a:ext cx="3496282" cy="2313912"/>
          </a:xfrm>
          <a:prstGeom prst="hexagon">
            <a:avLst>
              <a:gd name="adj" fmla="val 25000"/>
              <a:gd name="vf" fmla="val 115470"/>
            </a:avLst>
          </a:prstGeom>
          <a:solidFill>
            <a:srgbClr val="3CA38D"/>
          </a:solidFill>
          <a:ln w="635000" cap="rnd" cmpd="sng">
            <a:solidFill>
              <a:srgbClr val="3CA38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4" name="Google Shape;304;p29"/>
          <p:cNvSpPr txBox="1"/>
          <p:nvPr/>
        </p:nvSpPr>
        <p:spPr>
          <a:xfrm>
            <a:off x="-406921" y="2775805"/>
            <a:ext cx="5920981" cy="14465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1" i="0" u="none" strike="noStrike" cap="none">
                <a:solidFill>
                  <a:schemeClr val="lt1"/>
                </a:solidFill>
                <a:latin typeface="Century Gothic"/>
                <a:ea typeface="Century Gothic"/>
                <a:cs typeface="Century Gothic"/>
                <a:sym typeface="Century Gothic"/>
              </a:rPr>
              <a:t>THANK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4400"/>
              <a:buFont typeface="Arial"/>
              <a:buNone/>
            </a:pPr>
            <a:r>
              <a:rPr lang="en-US" sz="4400" b="1" i="0" u="none" strike="noStrike" cap="none">
                <a:solidFill>
                  <a:schemeClr val="lt1"/>
                </a:solidFill>
                <a:latin typeface="Century Gothic"/>
                <a:ea typeface="Century Gothic"/>
                <a:cs typeface="Century Gothic"/>
                <a:sym typeface="Century Gothic"/>
              </a:rPr>
              <a:t>YOU</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2010</TotalTime>
  <Words>758</Words>
  <Application>Microsoft Office PowerPoint</Application>
  <PresentationFormat>Widescreen</PresentationFormat>
  <Paragraphs>76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Adeola Juliet Odumeru</cp:lastModifiedBy>
  <cp:revision>89</cp:revision>
  <dcterms:modified xsi:type="dcterms:W3CDTF">2024-09-21T16:14:12Z</dcterms:modified>
</cp:coreProperties>
</file>